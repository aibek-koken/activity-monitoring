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6256000" cy="9144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62555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162555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162555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162555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162555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162555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162555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162555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162555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838383"/>
              </a:solidFill>
              <a:prstDash val="solid"/>
              <a:miter lim="400000"/>
            </a:ln>
          </a:left>
          <a:right>
            <a:ln w="3175" cap="flat">
              <a:solidFill>
                <a:srgbClr val="838383"/>
              </a:solidFill>
              <a:prstDash val="solid"/>
              <a:miter lim="400000"/>
            </a:ln>
          </a:right>
          <a:top>
            <a:ln w="3175" cap="flat">
              <a:solidFill>
                <a:srgbClr val="838383"/>
              </a:solidFill>
              <a:prstDash val="solid"/>
              <a:miter lim="400000"/>
            </a:ln>
          </a:top>
          <a:bottom>
            <a:ln w="3175" cap="flat">
              <a:solidFill>
                <a:srgbClr val="838383"/>
              </a:solidFill>
              <a:prstDash val="solid"/>
              <a:miter lim="400000"/>
            </a:ln>
          </a:bottom>
          <a:insideH>
            <a:ln w="3175" cap="flat">
              <a:solidFill>
                <a:srgbClr val="838383"/>
              </a:solidFill>
              <a:prstDash val="solid"/>
              <a:miter lim="400000"/>
            </a:ln>
          </a:insideH>
          <a:insideV>
            <a:ln w="3175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808080"/>
              </a:solidFill>
              <a:prstDash val="solid"/>
              <a:miter lim="400000"/>
            </a:ln>
          </a:right>
          <a:top>
            <a:ln w="3175" cap="flat">
              <a:solidFill>
                <a:srgbClr val="808080"/>
              </a:solidFill>
              <a:prstDash val="solid"/>
              <a:miter lim="400000"/>
            </a:ln>
          </a:top>
          <a:bottom>
            <a:ln w="3175" cap="flat">
              <a:solidFill>
                <a:srgbClr val="808080"/>
              </a:solidFill>
              <a:prstDash val="solid"/>
              <a:miter lim="400000"/>
            </a:ln>
          </a:bottom>
          <a:insideH>
            <a:ln w="3175" cap="flat">
              <a:solidFill>
                <a:srgbClr val="808080"/>
              </a:solidFill>
              <a:prstDash val="solid"/>
              <a:miter lim="400000"/>
            </a:ln>
          </a:insideH>
          <a:insideV>
            <a:ln w="3175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chemeClr val="accent3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4D4D4D"/>
              </a:solidFill>
              <a:prstDash val="solid"/>
              <a:miter lim="400000"/>
            </a:ln>
          </a:right>
          <a:top>
            <a:ln w="3175" cap="flat">
              <a:solidFill>
                <a:srgbClr val="4D4D4D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4D4D4D"/>
              </a:solidFill>
              <a:prstDash val="solid"/>
              <a:miter lim="400000"/>
            </a:ln>
          </a:insideH>
          <a:insideV>
            <a:ln w="3175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F8BA00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464646"/>
              </a:solidFill>
              <a:prstDash val="solid"/>
              <a:miter lim="400000"/>
            </a:ln>
          </a:left>
          <a:right>
            <a:ln w="3175" cap="flat">
              <a:solidFill>
                <a:srgbClr val="464646"/>
              </a:solidFill>
              <a:prstDash val="solid"/>
              <a:miter lim="400000"/>
            </a:ln>
          </a:right>
          <a:top>
            <a:ln w="3175" cap="flat">
              <a:solidFill>
                <a:srgbClr val="464646"/>
              </a:solidFill>
              <a:prstDash val="solid"/>
              <a:miter lim="400000"/>
            </a:ln>
          </a:top>
          <a:bottom>
            <a:ln w="3175" cap="flat">
              <a:solidFill>
                <a:srgbClr val="464646"/>
              </a:solidFill>
              <a:prstDash val="solid"/>
              <a:miter lim="400000"/>
            </a:ln>
          </a:bottom>
          <a:insideH>
            <a:ln w="3175" cap="flat">
              <a:solidFill>
                <a:srgbClr val="464646"/>
              </a:solidFill>
              <a:prstDash val="solid"/>
              <a:miter lim="400000"/>
            </a:ln>
          </a:insideH>
          <a:insideV>
            <a:ln w="3175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C3C3C3"/>
              </a:solidFill>
              <a:prstDash val="solid"/>
              <a:miter lim="400000"/>
            </a:ln>
          </a:top>
          <a:bottom>
            <a:ln w="3175" cap="flat">
              <a:solidFill>
                <a:srgbClr val="C3C3C3"/>
              </a:solidFill>
              <a:prstDash val="solid"/>
              <a:miter lim="400000"/>
            </a:ln>
          </a:bottom>
          <a:insideH>
            <a:ln w="3175" cap="flat">
              <a:solidFill>
                <a:srgbClr val="C3C3C3"/>
              </a:solidFill>
              <a:prstDash val="solid"/>
              <a:miter lim="400000"/>
            </a:ln>
          </a:insideH>
          <a:insideV>
            <a:ln w="3175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CB297B"/>
              </a:solidFill>
              <a:prstDash val="solid"/>
              <a:miter lim="400000"/>
            </a:ln>
          </a:top>
          <a:bottom>
            <a:ln w="3175" cap="flat">
              <a:solidFill>
                <a:srgbClr val="5E5E5E"/>
              </a:solidFill>
              <a:prstDash val="solid"/>
              <a:miter lim="400000"/>
            </a:ln>
          </a:bottom>
          <a:insideH>
            <a:ln w="3175" cap="flat">
              <a:solidFill>
                <a:srgbClr val="5E5E5E"/>
              </a:solidFill>
              <a:prstDash val="solid"/>
              <a:miter lim="400000"/>
            </a:ln>
          </a:insideH>
          <a:insideV>
            <a:ln w="3175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5E5E5E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6C6C6C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6C6C6C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6C6C6C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1" name="Shape 16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Purpose: introduce the implemented Sprint 1 foundation. Source: README.md and docs/SPRINT_1_STATUS.md.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7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0" name="Shape 18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Explain the user-visible acceptance criteria. Source: docs/SPRINT_1_STATUS.md.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1" name="Shape 20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Use this slide to explain the three tiers and separate runtime processes. Source: docs/CODE_ARCHITECTURE.md and compose.yaml.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 23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1" name="Shape 23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Explain why the backend remains one application while packages keep responsibilities clear. Source: docs/CODE_ARCHITECTURE.md.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hape 25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6" name="Shape 25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Mention that JWT never enters localStorage. CSRF protects state-changing cookie requests. Source: docs/ARCHITECTURE.md and SecurityConfig.java.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27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8" name="Shape 27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Explain that Sprint 1 implements only the user slice of the future ERD. Source: db/migration/V1__create_app_users.sql and docs/API.md.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28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9" name="Shape 28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Demonstrate the login screen and one protected workspace. Source images: Playwright desktop screenshots in frontend/test-results.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30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8" name="Shape 30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Verification record: mvn test 5 passed, npm test 1 passed, lint/build passed, Playwright 21 passed. Source: docs/SPRINT_1_STATUS.md.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Shape 32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9" name="Shape 32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Close with the reason for the layered monolith: clear boundaries today and low-cost extraction later. Source: docs/PROJECT_CONTEXT.md and docs/CODE_ARCHITECTURE.md.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Автор и дата"/>
          <p:cNvSpPr txBox="1"/>
          <p:nvPr>
            <p:ph type="body" sz="quarter" idx="21" hasCustomPrompt="1"/>
          </p:nvPr>
        </p:nvSpPr>
        <p:spPr>
          <a:xfrm>
            <a:off x="3243262" y="6795050"/>
            <a:ext cx="9764891" cy="283102"/>
          </a:xfrm>
          <a:prstGeom prst="rect">
            <a:avLst/>
          </a:prstGeom>
        </p:spPr>
        <p:txBody>
          <a:bodyPr lIns="20319" tIns="20319" rIns="20319" bIns="20319"/>
          <a:lstStyle>
            <a:lvl1pPr defTabSz="368723">
              <a:defRPr sz="1608"/>
            </a:lvl1pPr>
          </a:lstStyle>
          <a:p>
            <a:pPr/>
            <a:r>
              <a:t>Автор и дата</a:t>
            </a:r>
          </a:p>
        </p:txBody>
      </p:sp>
      <p:sp>
        <p:nvSpPr>
          <p:cNvPr id="12" name="Заголовок презентации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презентации</a:t>
            </a:r>
          </a:p>
        </p:txBody>
      </p:sp>
      <p:sp>
        <p:nvSpPr>
          <p:cNvPr id="13" name="Уровень текста 1…"/>
          <p:cNvSpPr txBox="1"/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Авокадо и лаймы"/>
          <p:cNvSpPr/>
          <p:nvPr>
            <p:ph type="pic" idx="21"/>
          </p:nvPr>
        </p:nvSpPr>
        <p:spPr>
          <a:xfrm>
            <a:off x="2195688" y="948266"/>
            <a:ext cx="11887202" cy="711952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Заголовок презентации"/>
          <p:cNvSpPr txBox="1"/>
          <p:nvPr>
            <p:ph type="title" hasCustomPrompt="1"/>
          </p:nvPr>
        </p:nvSpPr>
        <p:spPr>
          <a:xfrm>
            <a:off x="3245555" y="4690533"/>
            <a:ext cx="9764890" cy="2065868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презентации</a:t>
            </a:r>
          </a:p>
        </p:txBody>
      </p:sp>
      <p:sp>
        <p:nvSpPr>
          <p:cNvPr id="23" name="Автор и дата"/>
          <p:cNvSpPr txBox="1"/>
          <p:nvPr>
            <p:ph type="body" sz="quarter" idx="22" hasCustomPrompt="1"/>
          </p:nvPr>
        </p:nvSpPr>
        <p:spPr>
          <a:xfrm>
            <a:off x="3246084" y="2015616"/>
            <a:ext cx="9763833" cy="283103"/>
          </a:xfrm>
          <a:prstGeom prst="rect">
            <a:avLst/>
          </a:prstGeom>
        </p:spPr>
        <p:txBody>
          <a:bodyPr lIns="20319" tIns="20319" rIns="20319" bIns="20319"/>
          <a:lstStyle>
            <a:lvl1pPr defTabSz="368723">
              <a:defRPr sz="1608"/>
            </a:lvl1pPr>
          </a:lstStyle>
          <a:p>
            <a:pPr/>
            <a:r>
              <a:t>Автор и дата</a:t>
            </a:r>
          </a:p>
        </p:txBody>
      </p:sp>
      <p:sp>
        <p:nvSpPr>
          <p:cNvPr id="24" name="Уровень текста 1…"/>
          <p:cNvSpPr txBox="1"/>
          <p:nvPr>
            <p:ph type="body" sz="quarter" idx="1" hasCustomPrompt="1"/>
          </p:nvPr>
        </p:nvSpPr>
        <p:spPr>
          <a:xfrm>
            <a:off x="3245555" y="6683960"/>
            <a:ext cx="9764890" cy="496423"/>
          </a:xfrm>
          <a:prstGeom prst="rect">
            <a:avLst/>
          </a:prstGeom>
        </p:spPr>
        <p:txBody>
          <a:bodyPr/>
          <a:lstStyle/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 (вариант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Тарелка с рублеными котлетами из лосося, салатом и хумусом"/>
          <p:cNvSpPr/>
          <p:nvPr>
            <p:ph type="pic" sz="half" idx="21"/>
          </p:nvPr>
        </p:nvSpPr>
        <p:spPr>
          <a:xfrm>
            <a:off x="7586133" y="1433688"/>
            <a:ext cx="5397706" cy="628226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Заголовок слайда"/>
          <p:cNvSpPr txBox="1"/>
          <p:nvPr>
            <p:ph type="title" hasCustomPrompt="1"/>
          </p:nvPr>
        </p:nvSpPr>
        <p:spPr>
          <a:xfrm>
            <a:off x="3245555" y="2088444"/>
            <a:ext cx="4346223" cy="2614344"/>
          </a:xfrm>
          <a:prstGeom prst="rect">
            <a:avLst/>
          </a:prstGeom>
        </p:spPr>
        <p:txBody>
          <a:bodyPr/>
          <a:lstStyle>
            <a:lvl1pPr>
              <a:defRPr spc="-112" sz="5600"/>
            </a:lvl1pPr>
          </a:lstStyle>
          <a:p>
            <a:pPr/>
            <a:r>
              <a:t>Заголовок слайда</a:t>
            </a:r>
          </a:p>
        </p:txBody>
      </p:sp>
      <p:sp>
        <p:nvSpPr>
          <p:cNvPr id="34" name="Уровень текста 1…"/>
          <p:cNvSpPr txBox="1"/>
          <p:nvPr>
            <p:ph type="body" sz="quarter" idx="1" hasCustomPrompt="1"/>
          </p:nvPr>
        </p:nvSpPr>
        <p:spPr>
          <a:xfrm>
            <a:off x="3245555" y="4662034"/>
            <a:ext cx="4346223" cy="2393522"/>
          </a:xfrm>
          <a:prstGeom prst="rect">
            <a:avLst/>
          </a:prstGeom>
        </p:spPr>
        <p:txBody>
          <a:bodyPr/>
          <a:lstStyle/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Номер слайда"/>
          <p:cNvSpPr txBox="1"/>
          <p:nvPr>
            <p:ph type="sldNum" sz="quarter" idx="2"/>
          </p:nvPr>
        </p:nvSpPr>
        <p:spPr>
          <a:xfrm>
            <a:off x="8011560" y="7287459"/>
            <a:ext cx="227326" cy="21869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Заголовок слайда"/>
          <p:cNvSpPr txBox="1"/>
          <p:nvPr>
            <p:ph type="title" hasCustomPrompt="1"/>
          </p:nvPr>
        </p:nvSpPr>
        <p:spPr>
          <a:xfrm>
            <a:off x="3245555" y="2003777"/>
            <a:ext cx="9764890" cy="636962"/>
          </a:xfrm>
          <a:prstGeom prst="rect">
            <a:avLst/>
          </a:prstGeom>
        </p:spPr>
        <p:txBody>
          <a:bodyPr anchor="t"/>
          <a:lstStyle>
            <a:lvl1pPr>
              <a:defRPr spc="-112" sz="5600"/>
            </a:lvl1pPr>
          </a:lstStyle>
          <a:p>
            <a:pPr/>
            <a:r>
              <a:t>Заголовок слайда</a:t>
            </a:r>
          </a:p>
        </p:txBody>
      </p:sp>
      <p:sp>
        <p:nvSpPr>
          <p:cNvPr id="43" name="Подзаголовок слайда"/>
          <p:cNvSpPr txBox="1"/>
          <p:nvPr>
            <p:ph type="body" sz="quarter" idx="21" hasCustomPrompt="1"/>
          </p:nvPr>
        </p:nvSpPr>
        <p:spPr>
          <a:xfrm>
            <a:off x="3245555" y="2578649"/>
            <a:ext cx="9764890" cy="415459"/>
          </a:xfrm>
          <a:prstGeom prst="rect">
            <a:avLst/>
          </a:prstGeom>
        </p:spPr>
        <p:txBody>
          <a:bodyPr lIns="20319" tIns="20319" rIns="20319" bIns="20319"/>
          <a:lstStyle>
            <a:lvl1pPr defTabSz="385233">
              <a:defRPr sz="252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44" name="Уровень текста 1…"/>
          <p:cNvSpPr txBox="1"/>
          <p:nvPr>
            <p:ph type="body" sz="half" idx="1" hasCustomPrompt="1"/>
          </p:nvPr>
        </p:nvSpPr>
        <p:spPr>
          <a:xfrm>
            <a:off x="3245555" y="3412224"/>
            <a:ext cx="9764890" cy="3669339"/>
          </a:xfrm>
          <a:prstGeom prst="rect">
            <a:avLst/>
          </a:prstGeom>
        </p:spPr>
        <p:txBody>
          <a:bodyPr/>
          <a:lstStyle>
            <a:lvl1pPr marL="4064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1pPr>
            <a:lvl2pPr marL="10160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2pPr>
            <a:lvl3pPr marL="16256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3pPr>
            <a:lvl4pPr marL="22352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4pPr>
            <a:lvl5pPr marL="28448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5pPr>
          </a:lstStyle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Уровень текста 1…"/>
          <p:cNvSpPr txBox="1"/>
          <p:nvPr>
            <p:ph type="body" sz="half" idx="1" hasCustomPrompt="1"/>
          </p:nvPr>
        </p:nvSpPr>
        <p:spPr>
          <a:xfrm>
            <a:off x="3245555" y="3412224"/>
            <a:ext cx="9764890" cy="3669339"/>
          </a:xfrm>
          <a:prstGeom prst="rect">
            <a:avLst/>
          </a:prstGeom>
        </p:spPr>
        <p:txBody>
          <a:bodyPr numCol="2" spcCol="488244"/>
          <a:lstStyle>
            <a:lvl1pPr marL="4064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1pPr>
            <a:lvl2pPr marL="10160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2pPr>
            <a:lvl3pPr marL="16256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3pPr>
            <a:lvl4pPr marL="22352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4pPr>
            <a:lvl5pPr marL="28448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5pPr>
          </a:lstStyle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Подзаголовок слайда"/>
          <p:cNvSpPr txBox="1"/>
          <p:nvPr>
            <p:ph type="body" sz="quarter" idx="21" hasCustomPrompt="1"/>
          </p:nvPr>
        </p:nvSpPr>
        <p:spPr>
          <a:xfrm>
            <a:off x="3245555" y="2578649"/>
            <a:ext cx="4346223" cy="415459"/>
          </a:xfrm>
          <a:prstGeom prst="rect">
            <a:avLst/>
          </a:prstGeom>
        </p:spPr>
        <p:txBody>
          <a:bodyPr lIns="20319" tIns="20319" rIns="20319" bIns="20319"/>
          <a:lstStyle>
            <a:lvl1pPr defTabSz="385233">
              <a:defRPr sz="252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61" name="Уровень текста 1…"/>
          <p:cNvSpPr txBox="1"/>
          <p:nvPr>
            <p:ph type="body" sz="quarter" idx="1" hasCustomPrompt="1"/>
          </p:nvPr>
        </p:nvSpPr>
        <p:spPr>
          <a:xfrm>
            <a:off x="3245555" y="3412224"/>
            <a:ext cx="4346223" cy="3669614"/>
          </a:xfrm>
          <a:prstGeom prst="rect">
            <a:avLst/>
          </a:prstGeom>
        </p:spPr>
        <p:txBody>
          <a:bodyPr/>
          <a:lstStyle>
            <a:lvl1pPr marL="4064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1pPr>
            <a:lvl2pPr marL="10160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2pPr>
            <a:lvl3pPr marL="16256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3pPr>
            <a:lvl4pPr marL="22352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4pPr>
            <a:lvl5pPr marL="28448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5pPr>
          </a:lstStyle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Тарелка пасты папарделле с зелёным маслом из петрушки, жареным фундуком и стружкой сыра пармезан"/>
          <p:cNvSpPr/>
          <p:nvPr>
            <p:ph type="pic" sz="half" idx="22"/>
          </p:nvPr>
        </p:nvSpPr>
        <p:spPr>
          <a:xfrm>
            <a:off x="8128000" y="1342993"/>
            <a:ext cx="4851944" cy="646925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Заголовок слайда"/>
          <p:cNvSpPr txBox="1"/>
          <p:nvPr>
            <p:ph type="title" hasCustomPrompt="1"/>
          </p:nvPr>
        </p:nvSpPr>
        <p:spPr>
          <a:xfrm>
            <a:off x="3245555" y="2003777"/>
            <a:ext cx="4346223" cy="637823"/>
          </a:xfrm>
          <a:prstGeom prst="rect">
            <a:avLst/>
          </a:prstGeom>
        </p:spPr>
        <p:txBody>
          <a:bodyPr anchor="t"/>
          <a:lstStyle>
            <a:lvl1pPr>
              <a:defRPr spc="-112" sz="5600"/>
            </a:lvl1pPr>
          </a:lstStyle>
          <a:p>
            <a:pPr/>
            <a:r>
              <a:t>Заголовок слайда</a:t>
            </a:r>
          </a:p>
        </p:txBody>
      </p:sp>
      <p:sp>
        <p:nvSpPr>
          <p:cNvPr id="6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Заголовок раздела"/>
          <p:cNvSpPr txBox="1"/>
          <p:nvPr>
            <p:ph type="title" hasCustomPrompt="1"/>
          </p:nvPr>
        </p:nvSpPr>
        <p:spPr>
          <a:xfrm>
            <a:off x="3245553" y="3539066"/>
            <a:ext cx="9764892" cy="2065868"/>
          </a:xfrm>
          <a:prstGeom prst="rect">
            <a:avLst/>
          </a:prstGeom>
        </p:spPr>
        <p:txBody>
          <a:bodyPr anchor="ctr"/>
          <a:lstStyle>
            <a:lvl1pPr>
              <a:defRPr b="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Заголовок раздела</a:t>
            </a:r>
          </a:p>
        </p:txBody>
      </p:sp>
      <p:sp>
        <p:nvSpPr>
          <p:cNvPr id="72" name="Номер слайда"/>
          <p:cNvSpPr txBox="1"/>
          <p:nvPr>
            <p:ph type="sldNum" sz="quarter" idx="2"/>
          </p:nvPr>
        </p:nvSpPr>
        <p:spPr>
          <a:xfrm>
            <a:off x="8011560" y="7287459"/>
            <a:ext cx="227326" cy="21869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Заголовок слайда"/>
          <p:cNvSpPr txBox="1"/>
          <p:nvPr>
            <p:ph type="title" hasCustomPrompt="1"/>
          </p:nvPr>
        </p:nvSpPr>
        <p:spPr>
          <a:xfrm>
            <a:off x="3245555" y="2003777"/>
            <a:ext cx="9764890" cy="637756"/>
          </a:xfrm>
          <a:prstGeom prst="rect">
            <a:avLst/>
          </a:prstGeom>
        </p:spPr>
        <p:txBody>
          <a:bodyPr anchor="t"/>
          <a:lstStyle>
            <a:lvl1pPr>
              <a:defRPr spc="-112" sz="5600"/>
            </a:lvl1pPr>
          </a:lstStyle>
          <a:p>
            <a:pPr/>
            <a:r>
              <a:t>Заголовок слайда</a:t>
            </a:r>
          </a:p>
        </p:txBody>
      </p:sp>
      <p:sp>
        <p:nvSpPr>
          <p:cNvPr id="80" name="Подзаголовок слайда"/>
          <p:cNvSpPr txBox="1"/>
          <p:nvPr>
            <p:ph type="body" sz="quarter" idx="21" hasCustomPrompt="1"/>
          </p:nvPr>
        </p:nvSpPr>
        <p:spPr>
          <a:xfrm>
            <a:off x="3245555" y="2578649"/>
            <a:ext cx="9764890" cy="415459"/>
          </a:xfrm>
          <a:prstGeom prst="rect">
            <a:avLst/>
          </a:prstGeom>
        </p:spPr>
        <p:txBody>
          <a:bodyPr lIns="20319" tIns="20319" rIns="20319" bIns="20319"/>
          <a:lstStyle>
            <a:lvl1pPr defTabSz="385233">
              <a:defRPr sz="252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8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повестки дня"/>
          <p:cNvSpPr txBox="1"/>
          <p:nvPr>
            <p:ph type="title" hasCustomPrompt="1"/>
          </p:nvPr>
        </p:nvSpPr>
        <p:spPr>
          <a:xfrm>
            <a:off x="3245555" y="2003777"/>
            <a:ext cx="9764890" cy="637823"/>
          </a:xfrm>
          <a:prstGeom prst="rect">
            <a:avLst/>
          </a:prstGeom>
        </p:spPr>
        <p:txBody>
          <a:bodyPr anchor="t"/>
          <a:lstStyle>
            <a:lvl1pPr>
              <a:defRPr spc="-112" sz="5600"/>
            </a:lvl1pPr>
          </a:lstStyle>
          <a:p>
            <a:pPr/>
            <a:r>
              <a:t>Заголовок повестки дня</a:t>
            </a:r>
          </a:p>
        </p:txBody>
      </p:sp>
      <p:sp>
        <p:nvSpPr>
          <p:cNvPr id="89" name="Подзаголовок повестки дня"/>
          <p:cNvSpPr txBox="1"/>
          <p:nvPr>
            <p:ph type="body" sz="quarter" idx="21" hasCustomPrompt="1"/>
          </p:nvPr>
        </p:nvSpPr>
        <p:spPr>
          <a:xfrm>
            <a:off x="3245555" y="2578649"/>
            <a:ext cx="9764890" cy="415459"/>
          </a:xfrm>
          <a:prstGeom prst="rect">
            <a:avLst/>
          </a:prstGeom>
        </p:spPr>
        <p:txBody>
          <a:bodyPr lIns="20319" tIns="20319" rIns="20319" bIns="20319"/>
          <a:lstStyle>
            <a:lvl1pPr defTabSz="385233">
              <a:defRPr sz="2520"/>
            </a:lvl1pPr>
          </a:lstStyle>
          <a:p>
            <a:pPr/>
            <a:r>
              <a:t>Подзаголовок повестки дня</a:t>
            </a:r>
          </a:p>
        </p:txBody>
      </p:sp>
      <p:sp>
        <p:nvSpPr>
          <p:cNvPr id="90" name="Уровень текста 1…"/>
          <p:cNvSpPr txBox="1"/>
          <p:nvPr>
            <p:ph type="body" sz="half" idx="1" hasCustomPrompt="1"/>
          </p:nvPr>
        </p:nvSpPr>
        <p:spPr>
          <a:xfrm>
            <a:off x="3245555" y="3412224"/>
            <a:ext cx="9764890" cy="3669339"/>
          </a:xfrm>
          <a:prstGeom prst="rect">
            <a:avLst/>
          </a:prstGeom>
        </p:spPr>
        <p:txBody>
          <a:bodyPr/>
          <a:lstStyle>
            <a:lvl1pPr>
              <a:spcBef>
                <a:spcPts val="1200"/>
              </a:spcBef>
              <a:defRPr b="0" spc="-36"/>
            </a:lvl1pPr>
            <a:lvl2pPr>
              <a:spcBef>
                <a:spcPts val="1200"/>
              </a:spcBef>
              <a:defRPr b="0" spc="-36"/>
            </a:lvl2pPr>
            <a:lvl3pPr>
              <a:spcBef>
                <a:spcPts val="1200"/>
              </a:spcBef>
              <a:defRPr b="0" spc="-36"/>
            </a:lvl3pPr>
            <a:lvl4pPr>
              <a:spcBef>
                <a:spcPts val="1200"/>
              </a:spcBef>
              <a:defRPr b="0" spc="-36"/>
            </a:lvl4pPr>
            <a:lvl5pPr>
              <a:spcBef>
                <a:spcPts val="1200"/>
              </a:spcBef>
              <a:defRPr b="0" spc="-36"/>
            </a:lvl5pPr>
          </a:lstStyle>
          <a:p>
            <a:pPr/>
            <a:r>
              <a:t>Темы повестки дня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Информационное сообщ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Уровень текста 1…"/>
          <p:cNvSpPr txBox="1"/>
          <p:nvPr>
            <p:ph type="body" sz="quarter" idx="1" hasCustomPrompt="1"/>
          </p:nvPr>
        </p:nvSpPr>
        <p:spPr>
          <a:xfrm>
            <a:off x="3245555" y="3711041"/>
            <a:ext cx="9764890" cy="1721918"/>
          </a:xfrm>
          <a:prstGeom prst="rect">
            <a:avLst/>
          </a:prstGeom>
        </p:spPr>
        <p:txBody>
          <a:bodyPr anchor="ctr"/>
          <a:lstStyle>
            <a:lvl1pPr algn="ctr" defTabSz="1625559">
              <a:lnSpc>
                <a:spcPct val="80000"/>
              </a:lnSpc>
              <a:defRPr b="0" spc="-152" sz="7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algn="ctr" defTabSz="1625559">
              <a:lnSpc>
                <a:spcPct val="80000"/>
              </a:lnSpc>
              <a:defRPr b="0" spc="-152" sz="7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algn="ctr" defTabSz="1625559">
              <a:lnSpc>
                <a:spcPct val="80000"/>
              </a:lnSpc>
              <a:defRPr b="0" spc="-152" sz="7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algn="ctr" defTabSz="1625559">
              <a:lnSpc>
                <a:spcPct val="80000"/>
              </a:lnSpc>
              <a:defRPr b="0" spc="-152" sz="7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algn="ctr" defTabSz="1625559">
              <a:lnSpc>
                <a:spcPct val="80000"/>
              </a:lnSpc>
              <a:defRPr b="0" spc="-152" sz="7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Информационное сообщение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Важный фа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Уровень текста 1…"/>
          <p:cNvSpPr txBox="1"/>
          <p:nvPr>
            <p:ph type="body" sz="half" idx="1" hasCustomPrompt="1"/>
          </p:nvPr>
        </p:nvSpPr>
        <p:spPr>
          <a:xfrm>
            <a:off x="3245555" y="2002189"/>
            <a:ext cx="9764890" cy="3218483"/>
          </a:xfrm>
          <a:prstGeom prst="rect">
            <a:avLst/>
          </a:prstGeom>
        </p:spPr>
        <p:txBody>
          <a:bodyPr anchor="b"/>
          <a:lstStyle>
            <a:lvl1pPr algn="ctr" defTabSz="1625559">
              <a:lnSpc>
                <a:spcPct val="80000"/>
              </a:lnSpc>
              <a:defRPr spc="-166" sz="16600"/>
            </a:lvl1pPr>
            <a:lvl2pPr algn="ctr" defTabSz="1625559">
              <a:lnSpc>
                <a:spcPct val="80000"/>
              </a:lnSpc>
              <a:defRPr spc="-166" sz="16600"/>
            </a:lvl2pPr>
            <a:lvl3pPr algn="ctr" defTabSz="1625559">
              <a:lnSpc>
                <a:spcPct val="80000"/>
              </a:lnSpc>
              <a:defRPr spc="-166" sz="16600"/>
            </a:lvl3pPr>
            <a:lvl4pPr algn="ctr" defTabSz="1625559">
              <a:lnSpc>
                <a:spcPct val="80000"/>
              </a:lnSpc>
              <a:defRPr spc="-166" sz="16600"/>
            </a:lvl4pPr>
            <a:lvl5pPr algn="ctr" defTabSz="1625559">
              <a:lnSpc>
                <a:spcPct val="80000"/>
              </a:lnSpc>
              <a:defRPr spc="-166" sz="16600"/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Информация о факте"/>
          <p:cNvSpPr txBox="1"/>
          <p:nvPr>
            <p:ph type="body" sz="quarter" idx="21" hasCustomPrompt="1"/>
          </p:nvPr>
        </p:nvSpPr>
        <p:spPr>
          <a:xfrm>
            <a:off x="3245555" y="5196080"/>
            <a:ext cx="9764890" cy="415458"/>
          </a:xfrm>
          <a:prstGeom prst="rect">
            <a:avLst/>
          </a:prstGeom>
        </p:spPr>
        <p:txBody>
          <a:bodyPr lIns="20319" tIns="20319" rIns="20319" bIns="20319"/>
          <a:lstStyle>
            <a:lvl1pPr algn="ctr" defTabSz="385233">
              <a:defRPr sz="2520"/>
            </a:lvl1pPr>
          </a:lstStyle>
          <a:p>
            <a:pPr/>
            <a:r>
              <a:t>Информация о факте</a:t>
            </a:r>
          </a:p>
        </p:txBody>
      </p:sp>
      <p:sp>
        <p:nvSpPr>
          <p:cNvPr id="10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Авторство"/>
          <p:cNvSpPr txBox="1"/>
          <p:nvPr>
            <p:ph type="body" sz="quarter" idx="21" hasCustomPrompt="1"/>
          </p:nvPr>
        </p:nvSpPr>
        <p:spPr>
          <a:xfrm>
            <a:off x="3789344" y="6268646"/>
            <a:ext cx="8977802" cy="283102"/>
          </a:xfrm>
          <a:prstGeom prst="rect">
            <a:avLst/>
          </a:prstGeom>
        </p:spPr>
        <p:txBody>
          <a:bodyPr lIns="20319" tIns="20319" rIns="20319" bIns="20319"/>
          <a:lstStyle>
            <a:lvl1pPr defTabSz="368723">
              <a:defRPr sz="1608"/>
            </a:lvl1pPr>
          </a:lstStyle>
          <a:p>
            <a:pPr/>
            <a:r>
              <a:t>Авторство</a:t>
            </a:r>
          </a:p>
        </p:txBody>
      </p:sp>
      <p:sp>
        <p:nvSpPr>
          <p:cNvPr id="116" name="Уровень текста 1…"/>
          <p:cNvSpPr txBox="1"/>
          <p:nvPr>
            <p:ph type="body" sz="quarter" idx="1" hasCustomPrompt="1"/>
          </p:nvPr>
        </p:nvSpPr>
        <p:spPr>
          <a:xfrm>
            <a:off x="3488854" y="3719493"/>
            <a:ext cx="9278292" cy="1705014"/>
          </a:xfrm>
          <a:prstGeom prst="rect">
            <a:avLst/>
          </a:prstGeom>
        </p:spPr>
        <p:txBody>
          <a:bodyPr/>
          <a:lstStyle>
            <a:lvl1pPr marL="425948" indent="-313266" defTabSz="1625559">
              <a:lnSpc>
                <a:spcPct val="90000"/>
              </a:lnSpc>
              <a:defRPr b="0" spc="-112" sz="5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425948" indent="143933" defTabSz="1625559">
              <a:lnSpc>
                <a:spcPct val="90000"/>
              </a:lnSpc>
              <a:defRPr b="0" spc="-112" sz="5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425948" indent="601133" defTabSz="1625559">
              <a:lnSpc>
                <a:spcPct val="90000"/>
              </a:lnSpc>
              <a:defRPr b="0" spc="-112" sz="5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425948" indent="1058333" defTabSz="1625559">
              <a:lnSpc>
                <a:spcPct val="90000"/>
              </a:lnSpc>
              <a:defRPr b="0" spc="-112" sz="5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425948" indent="1515533" defTabSz="1625559">
              <a:lnSpc>
                <a:spcPct val="90000"/>
              </a:lnSpc>
              <a:defRPr b="0" spc="-112" sz="5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«Важная цитата»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Миска салата с жареным рисом, варёными яйцами и палочками для еды"/>
          <p:cNvSpPr/>
          <p:nvPr>
            <p:ph type="pic" sz="quarter" idx="21"/>
          </p:nvPr>
        </p:nvSpPr>
        <p:spPr>
          <a:xfrm>
            <a:off x="9714088" y="1975555"/>
            <a:ext cx="3306268" cy="264430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Тарелка с рублеными котлетами из лосося, салатом и хумусом "/>
          <p:cNvSpPr/>
          <p:nvPr>
            <p:ph type="pic" sz="quarter" idx="22"/>
          </p:nvPr>
        </p:nvSpPr>
        <p:spPr>
          <a:xfrm>
            <a:off x="8709377" y="3292122"/>
            <a:ext cx="4639735" cy="54000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Тарелка пасты папарделле с зелёным маслом из петрушки, жареным фундуком и стружкой сыра пармезан"/>
          <p:cNvSpPr/>
          <p:nvPr>
            <p:ph type="pic" sz="half" idx="23"/>
          </p:nvPr>
        </p:nvSpPr>
        <p:spPr>
          <a:xfrm>
            <a:off x="2647244" y="1744133"/>
            <a:ext cx="7382934" cy="5537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миска салата с жареным рисом, варёными яйцами и палочками для еды"/>
          <p:cNvSpPr/>
          <p:nvPr>
            <p:ph type="pic" idx="21"/>
          </p:nvPr>
        </p:nvSpPr>
        <p:spPr>
          <a:xfrm>
            <a:off x="2116666" y="-931334"/>
            <a:ext cx="12022668" cy="961813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презентации"/>
          <p:cNvSpPr txBox="1"/>
          <p:nvPr>
            <p:ph type="title" hasCustomPrompt="1"/>
          </p:nvPr>
        </p:nvSpPr>
        <p:spPr>
          <a:xfrm>
            <a:off x="3245553" y="2668440"/>
            <a:ext cx="9764892" cy="206586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b">
            <a:normAutofit fontScale="100000" lnSpcReduction="0"/>
          </a:bodyPr>
          <a:lstStyle/>
          <a:p>
            <a:pPr/>
            <a:r>
              <a:t>Заголовок презентации</a:t>
            </a:r>
          </a:p>
        </p:txBody>
      </p:sp>
      <p:sp>
        <p:nvSpPr>
          <p:cNvPr id="3" name="Уровень текста 1…"/>
          <p:cNvSpPr txBox="1"/>
          <p:nvPr>
            <p:ph type="body" idx="1" hasCustomPrompt="1"/>
          </p:nvPr>
        </p:nvSpPr>
        <p:spPr>
          <a:xfrm>
            <a:off x="3243263" y="4734307"/>
            <a:ext cx="9764890" cy="84666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>
            <a:normAutofit fontScale="100000" lnSpcReduction="0"/>
          </a:bodyPr>
          <a:lstStyle/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8011560" y="7285577"/>
            <a:ext cx="227326" cy="218690"/>
          </a:xfrm>
          <a:prstGeom prst="rect">
            <a:avLst/>
          </a:prstGeom>
          <a:ln w="3175">
            <a:miter lim="400000"/>
          </a:ln>
        </p:spPr>
        <p:txBody>
          <a:bodyPr wrap="none" lIns="22577" tIns="22577" rIns="22577" bIns="22577" anchor="b">
            <a:spAutoFit/>
          </a:bodyPr>
          <a:lstStyle>
            <a:lvl1pPr defTabSz="389466">
              <a:defRPr sz="12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0" marR="0" indent="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EasyLang"/>
          <p:cNvSpPr txBox="1"/>
          <p:nvPr/>
        </p:nvSpPr>
        <p:spPr>
          <a:xfrm>
            <a:off x="914400" y="860072"/>
            <a:ext cx="3810000" cy="4642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400">
                <a:solidFill>
                  <a:srgbClr val="31A19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EasyLang</a:t>
            </a:r>
          </a:p>
        </p:txBody>
      </p:sp>
      <p:sp>
        <p:nvSpPr>
          <p:cNvPr id="152" name="Activity Monitoring"/>
          <p:cNvSpPr txBox="1"/>
          <p:nvPr/>
        </p:nvSpPr>
        <p:spPr>
          <a:xfrm>
            <a:off x="914400" y="2276122"/>
            <a:ext cx="13335000" cy="9849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5400">
                <a:solidFill>
                  <a:srgbClr val="2234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Activity Monitoring</a:t>
            </a:r>
          </a:p>
        </p:txBody>
      </p:sp>
      <p:sp>
        <p:nvSpPr>
          <p:cNvPr id="153" name="Sprint 1 technical overview"/>
          <p:cNvSpPr txBox="1"/>
          <p:nvPr/>
        </p:nvSpPr>
        <p:spPr>
          <a:xfrm>
            <a:off x="914400" y="3495322"/>
            <a:ext cx="9906000" cy="629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3400">
                <a:solidFill>
                  <a:srgbClr val="38527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Sprint 1 technical overview</a:t>
            </a:r>
          </a:p>
        </p:txBody>
      </p:sp>
      <p:sp>
        <p:nvSpPr>
          <p:cNvPr id="154" name="Линия"/>
          <p:cNvSpPr/>
          <p:nvPr/>
        </p:nvSpPr>
        <p:spPr>
          <a:xfrm>
            <a:off x="914399" y="4622799"/>
            <a:ext cx="14427201" cy="1"/>
          </a:xfrm>
          <a:prstGeom prst="line">
            <a:avLst/>
          </a:prstGeom>
          <a:ln w="3175">
            <a:solidFill>
              <a:srgbClr val="000000"/>
            </a:solidFill>
            <a:miter lim="400000"/>
          </a:ln>
        </p:spPr>
        <p:txBody>
          <a:bodyPr lIns="22577" tIns="22577" rIns="22577" bIns="22577" anchor="ctr"/>
          <a:lstStyle/>
          <a:p>
            <a:pPr/>
          </a:p>
        </p:txBody>
      </p:sp>
      <p:sp>
        <p:nvSpPr>
          <p:cNvPr id="155" name="Authentication and role-based access"/>
          <p:cNvSpPr txBox="1"/>
          <p:nvPr/>
        </p:nvSpPr>
        <p:spPr>
          <a:xfrm>
            <a:off x="914400" y="5203472"/>
            <a:ext cx="9144000" cy="4388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300">
                <a:solidFill>
                  <a:srgbClr val="2234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Authentication and role-based access</a:t>
            </a:r>
          </a:p>
        </p:txBody>
      </p:sp>
      <p:sp>
        <p:nvSpPr>
          <p:cNvPr id="156" name="Spring Boot"/>
          <p:cNvSpPr txBox="1"/>
          <p:nvPr/>
        </p:nvSpPr>
        <p:spPr>
          <a:xfrm>
            <a:off x="914400" y="6695722"/>
            <a:ext cx="2794000" cy="375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900">
                <a:solidFill>
                  <a:srgbClr val="38527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Spring Boot</a:t>
            </a:r>
          </a:p>
        </p:txBody>
      </p:sp>
      <p:sp>
        <p:nvSpPr>
          <p:cNvPr id="157" name="React + TypeScript"/>
          <p:cNvSpPr txBox="1"/>
          <p:nvPr/>
        </p:nvSpPr>
        <p:spPr>
          <a:xfrm>
            <a:off x="4368799" y="6695722"/>
            <a:ext cx="3302001" cy="375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900">
                <a:solidFill>
                  <a:srgbClr val="38527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React + TypeScript</a:t>
            </a:r>
          </a:p>
        </p:txBody>
      </p:sp>
      <p:sp>
        <p:nvSpPr>
          <p:cNvPr id="158" name="PostgreSQL"/>
          <p:cNvSpPr txBox="1"/>
          <p:nvPr/>
        </p:nvSpPr>
        <p:spPr>
          <a:xfrm>
            <a:off x="8763000" y="6695722"/>
            <a:ext cx="2794000" cy="375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900">
                <a:solidFill>
                  <a:srgbClr val="38527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PostgreSQL</a:t>
            </a:r>
          </a:p>
        </p:txBody>
      </p:sp>
      <p:sp>
        <p:nvSpPr>
          <p:cNvPr id="159" name="Technical presentation for Sprint 1"/>
          <p:cNvSpPr txBox="1"/>
          <p:nvPr/>
        </p:nvSpPr>
        <p:spPr>
          <a:xfrm>
            <a:off x="914400" y="8289572"/>
            <a:ext cx="5334000" cy="286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400">
                <a:solidFill>
                  <a:srgbClr val="77879D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Technical presentation for Sprint 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print 1 result"/>
          <p:cNvSpPr txBox="1"/>
          <p:nvPr/>
        </p:nvSpPr>
        <p:spPr>
          <a:xfrm>
            <a:off x="812800" y="574322"/>
            <a:ext cx="14224000" cy="6039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3200">
                <a:solidFill>
                  <a:srgbClr val="2234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Sprint 1 result</a:t>
            </a:r>
          </a:p>
        </p:txBody>
      </p:sp>
      <p:sp>
        <p:nvSpPr>
          <p:cNvPr id="164" name="EasyLang  /  Sprint 1"/>
          <p:cNvSpPr txBox="1"/>
          <p:nvPr/>
        </p:nvSpPr>
        <p:spPr>
          <a:xfrm>
            <a:off x="812800" y="8664222"/>
            <a:ext cx="3048000" cy="248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200">
                <a:solidFill>
                  <a:srgbClr val="77879D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EasyLang  /  Sprint 1</a:t>
            </a:r>
          </a:p>
        </p:txBody>
      </p:sp>
      <p:sp>
        <p:nvSpPr>
          <p:cNvPr id="165" name="02"/>
          <p:cNvSpPr txBox="1"/>
          <p:nvPr/>
        </p:nvSpPr>
        <p:spPr>
          <a:xfrm>
            <a:off x="15011400" y="8664222"/>
            <a:ext cx="431800" cy="248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200">
                <a:solidFill>
                  <a:srgbClr val="31A19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66" name="A user can sign in and enter only the workspace assigned to the role stored in the database."/>
          <p:cNvSpPr txBox="1"/>
          <p:nvPr/>
        </p:nvSpPr>
        <p:spPr>
          <a:xfrm>
            <a:off x="812800" y="1780822"/>
            <a:ext cx="14097000" cy="10611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900">
                <a:solidFill>
                  <a:srgbClr val="38527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A user can sign in and enter only the workspace assigned to the role stored in the database.</a:t>
            </a:r>
          </a:p>
        </p:txBody>
      </p:sp>
      <p:sp>
        <p:nvSpPr>
          <p:cNvPr id="167" name="01"/>
          <p:cNvSpPr txBox="1"/>
          <p:nvPr/>
        </p:nvSpPr>
        <p:spPr>
          <a:xfrm>
            <a:off x="812800" y="3596922"/>
            <a:ext cx="711200" cy="5277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800">
                <a:solidFill>
                  <a:srgbClr val="31A19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68" name="Database-backed login"/>
          <p:cNvSpPr txBox="1"/>
          <p:nvPr/>
        </p:nvSpPr>
        <p:spPr>
          <a:xfrm>
            <a:off x="1651000" y="3565172"/>
            <a:ext cx="5892800" cy="413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100">
                <a:solidFill>
                  <a:srgbClr val="2234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Database-backed login</a:t>
            </a:r>
          </a:p>
        </p:txBody>
      </p:sp>
      <p:sp>
        <p:nvSpPr>
          <p:cNvPr id="169" name="Spring Security verifies email and a BCrypt password hash from PostgreSQL."/>
          <p:cNvSpPr txBox="1"/>
          <p:nvPr/>
        </p:nvSpPr>
        <p:spPr>
          <a:xfrm>
            <a:off x="1650999" y="4041422"/>
            <a:ext cx="5892801" cy="6039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>
                <a:solidFill>
                  <a:srgbClr val="77879D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Spring Security verifies email and a BCrypt password hash from PostgreSQL.</a:t>
            </a:r>
          </a:p>
        </p:txBody>
      </p:sp>
      <p:sp>
        <p:nvSpPr>
          <p:cNvPr id="170" name="02"/>
          <p:cNvSpPr txBox="1"/>
          <p:nvPr/>
        </p:nvSpPr>
        <p:spPr>
          <a:xfrm>
            <a:off x="8255000" y="3596922"/>
            <a:ext cx="711200" cy="5277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800">
                <a:solidFill>
                  <a:srgbClr val="31A19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71" name="Automatic role detection"/>
          <p:cNvSpPr txBox="1"/>
          <p:nvPr/>
        </p:nvSpPr>
        <p:spPr>
          <a:xfrm>
            <a:off x="9093199" y="3565172"/>
            <a:ext cx="5892801" cy="413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100">
                <a:solidFill>
                  <a:srgbClr val="2234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Automatic role detection</a:t>
            </a:r>
          </a:p>
        </p:txBody>
      </p:sp>
      <p:sp>
        <p:nvSpPr>
          <p:cNvPr id="172" name="The authenticated database user determines the frontend route and API permissions."/>
          <p:cNvSpPr txBox="1"/>
          <p:nvPr/>
        </p:nvSpPr>
        <p:spPr>
          <a:xfrm>
            <a:off x="9093200" y="4041422"/>
            <a:ext cx="5892801" cy="6039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>
                <a:solidFill>
                  <a:srgbClr val="77879D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The authenticated database user determines the frontend route and API permissions.</a:t>
            </a:r>
          </a:p>
        </p:txBody>
      </p:sp>
      <p:sp>
        <p:nvSpPr>
          <p:cNvPr id="173" name="03"/>
          <p:cNvSpPr txBox="1"/>
          <p:nvPr/>
        </p:nvSpPr>
        <p:spPr>
          <a:xfrm>
            <a:off x="812800" y="5819422"/>
            <a:ext cx="711200" cy="5277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800">
                <a:solidFill>
                  <a:srgbClr val="31A19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74" name="Protected workspaces"/>
          <p:cNvSpPr txBox="1"/>
          <p:nvPr/>
        </p:nvSpPr>
        <p:spPr>
          <a:xfrm>
            <a:off x="1651000" y="5787672"/>
            <a:ext cx="5892800" cy="413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100">
                <a:solidFill>
                  <a:srgbClr val="2234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Protected workspaces</a:t>
            </a:r>
          </a:p>
        </p:txBody>
      </p:sp>
      <p:sp>
        <p:nvSpPr>
          <p:cNvPr id="175" name="Translator, Chief Editor, and Project Manager routes have separate server rules."/>
          <p:cNvSpPr txBox="1"/>
          <p:nvPr/>
        </p:nvSpPr>
        <p:spPr>
          <a:xfrm>
            <a:off x="1651000" y="6263922"/>
            <a:ext cx="5892801" cy="6039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>
                <a:solidFill>
                  <a:srgbClr val="77879D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Translator, Chief Editor, and Project Manager routes have separate server rules.</a:t>
            </a:r>
          </a:p>
        </p:txBody>
      </p:sp>
      <p:sp>
        <p:nvSpPr>
          <p:cNvPr id="176" name="04"/>
          <p:cNvSpPr txBox="1"/>
          <p:nvPr/>
        </p:nvSpPr>
        <p:spPr>
          <a:xfrm>
            <a:off x="8255000" y="5819422"/>
            <a:ext cx="711200" cy="5277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800">
                <a:solidFill>
                  <a:srgbClr val="31A19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77" name="Session lifecycle"/>
          <p:cNvSpPr txBox="1"/>
          <p:nvPr/>
        </p:nvSpPr>
        <p:spPr>
          <a:xfrm>
            <a:off x="9093200" y="5787672"/>
            <a:ext cx="5892800" cy="413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100">
                <a:solidFill>
                  <a:srgbClr val="2234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Session lifecycle</a:t>
            </a:r>
          </a:p>
        </p:txBody>
      </p:sp>
      <p:sp>
        <p:nvSpPr>
          <p:cNvPr id="178" name="The application restores the session after refresh and clears the cookie on logout."/>
          <p:cNvSpPr txBox="1"/>
          <p:nvPr/>
        </p:nvSpPr>
        <p:spPr>
          <a:xfrm>
            <a:off x="9093200" y="6263922"/>
            <a:ext cx="5892801" cy="6039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>
                <a:solidFill>
                  <a:srgbClr val="77879D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The application restores the session after refresh and clears the cookie on logout.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ystem architecture"/>
          <p:cNvSpPr txBox="1"/>
          <p:nvPr/>
        </p:nvSpPr>
        <p:spPr>
          <a:xfrm>
            <a:off x="812800" y="574322"/>
            <a:ext cx="14224000" cy="6039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3200">
                <a:solidFill>
                  <a:srgbClr val="2234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System architecture</a:t>
            </a:r>
          </a:p>
        </p:txBody>
      </p:sp>
      <p:sp>
        <p:nvSpPr>
          <p:cNvPr id="183" name="EasyLang  /  Sprint 1"/>
          <p:cNvSpPr txBox="1"/>
          <p:nvPr/>
        </p:nvSpPr>
        <p:spPr>
          <a:xfrm>
            <a:off x="812800" y="8664222"/>
            <a:ext cx="3048000" cy="248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200">
                <a:solidFill>
                  <a:srgbClr val="77879D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EasyLang  /  Sprint 1</a:t>
            </a:r>
          </a:p>
        </p:txBody>
      </p:sp>
      <p:sp>
        <p:nvSpPr>
          <p:cNvPr id="184" name="03"/>
          <p:cNvSpPr txBox="1"/>
          <p:nvPr/>
        </p:nvSpPr>
        <p:spPr>
          <a:xfrm>
            <a:off x="15011400" y="8664222"/>
            <a:ext cx="431800" cy="248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200">
                <a:solidFill>
                  <a:srgbClr val="31A19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85" name="React + TypeScript"/>
          <p:cNvSpPr txBox="1"/>
          <p:nvPr/>
        </p:nvSpPr>
        <p:spPr>
          <a:xfrm>
            <a:off x="1143000" y="2041172"/>
            <a:ext cx="3810000" cy="5150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700">
                <a:solidFill>
                  <a:srgbClr val="38527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React + TypeScript</a:t>
            </a:r>
          </a:p>
        </p:txBody>
      </p:sp>
      <p:sp>
        <p:nvSpPr>
          <p:cNvPr id="186" name="Browser UI…"/>
          <p:cNvSpPr txBox="1"/>
          <p:nvPr/>
        </p:nvSpPr>
        <p:spPr>
          <a:xfrm>
            <a:off x="1143000" y="2923822"/>
            <a:ext cx="3810001" cy="6801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1800">
                <a:solidFill>
                  <a:srgbClr val="77879D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Browser UI</a:t>
            </a:r>
          </a:p>
          <a:p>
            <a:pPr>
              <a:defRPr sz="1800">
                <a:solidFill>
                  <a:srgbClr val="77879D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Login, routes, session state</a:t>
            </a:r>
          </a:p>
        </p:txBody>
      </p:sp>
      <p:sp>
        <p:nvSpPr>
          <p:cNvPr id="187" name="Линия"/>
          <p:cNvSpPr/>
          <p:nvPr/>
        </p:nvSpPr>
        <p:spPr>
          <a:xfrm>
            <a:off x="4953000" y="2895599"/>
            <a:ext cx="1066801" cy="2"/>
          </a:xfrm>
          <a:prstGeom prst="line">
            <a:avLst/>
          </a:prstGeom>
          <a:ln w="3175">
            <a:solidFill>
              <a:srgbClr val="000000"/>
            </a:solidFill>
            <a:miter lim="400000"/>
          </a:ln>
        </p:spPr>
        <p:txBody>
          <a:bodyPr lIns="22577" tIns="22577" rIns="22577" bIns="22577" anchor="ctr"/>
          <a:lstStyle/>
          <a:p>
            <a:pPr/>
          </a:p>
        </p:txBody>
      </p:sp>
      <p:sp>
        <p:nvSpPr>
          <p:cNvPr id="188" name="JSON over HTTP"/>
          <p:cNvSpPr txBox="1"/>
          <p:nvPr/>
        </p:nvSpPr>
        <p:spPr>
          <a:xfrm>
            <a:off x="5003800" y="2377722"/>
            <a:ext cx="1422400" cy="2737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300">
                <a:solidFill>
                  <a:srgbClr val="31A19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JSON over HTTP</a:t>
            </a:r>
          </a:p>
        </p:txBody>
      </p:sp>
      <p:sp>
        <p:nvSpPr>
          <p:cNvPr id="189" name="Spring Boot"/>
          <p:cNvSpPr txBox="1"/>
          <p:nvPr/>
        </p:nvSpPr>
        <p:spPr>
          <a:xfrm>
            <a:off x="6350000" y="2041172"/>
            <a:ext cx="3302001" cy="5150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700">
                <a:solidFill>
                  <a:srgbClr val="38527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Spring Boot</a:t>
            </a:r>
          </a:p>
        </p:txBody>
      </p:sp>
      <p:sp>
        <p:nvSpPr>
          <p:cNvPr id="190" name="Security, business logic, API…"/>
          <p:cNvSpPr txBox="1"/>
          <p:nvPr/>
        </p:nvSpPr>
        <p:spPr>
          <a:xfrm>
            <a:off x="6350000" y="2923822"/>
            <a:ext cx="3302000" cy="6801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1800">
                <a:solidFill>
                  <a:srgbClr val="77879D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Security, business logic, API</a:t>
            </a:r>
          </a:p>
          <a:p>
            <a:pPr>
              <a:defRPr sz="1800">
                <a:solidFill>
                  <a:srgbClr val="77879D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Port 8080</a:t>
            </a:r>
          </a:p>
        </p:txBody>
      </p:sp>
      <p:sp>
        <p:nvSpPr>
          <p:cNvPr id="191" name="Линия"/>
          <p:cNvSpPr/>
          <p:nvPr/>
        </p:nvSpPr>
        <p:spPr>
          <a:xfrm flipV="1">
            <a:off x="9652000" y="2895599"/>
            <a:ext cx="1066801" cy="1"/>
          </a:xfrm>
          <a:prstGeom prst="line">
            <a:avLst/>
          </a:prstGeom>
          <a:ln w="3175">
            <a:solidFill>
              <a:srgbClr val="000000"/>
            </a:solidFill>
            <a:miter lim="400000"/>
          </a:ln>
        </p:spPr>
        <p:txBody>
          <a:bodyPr lIns="22577" tIns="22577" rIns="22577" bIns="22577" anchor="ctr"/>
          <a:lstStyle/>
          <a:p>
            <a:pPr/>
          </a:p>
        </p:txBody>
      </p:sp>
      <p:sp>
        <p:nvSpPr>
          <p:cNvPr id="192" name="JPA + Flyway"/>
          <p:cNvSpPr txBox="1"/>
          <p:nvPr/>
        </p:nvSpPr>
        <p:spPr>
          <a:xfrm>
            <a:off x="9728200" y="2492022"/>
            <a:ext cx="1397001" cy="2737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300">
                <a:solidFill>
                  <a:srgbClr val="31A19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JPA + Flyway</a:t>
            </a:r>
          </a:p>
        </p:txBody>
      </p:sp>
      <p:sp>
        <p:nvSpPr>
          <p:cNvPr id="193" name="PostgreSQL"/>
          <p:cNvSpPr txBox="1"/>
          <p:nvPr/>
        </p:nvSpPr>
        <p:spPr>
          <a:xfrm>
            <a:off x="11048999" y="2041172"/>
            <a:ext cx="3429001" cy="5150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700">
                <a:solidFill>
                  <a:srgbClr val="38527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PostgreSQL</a:t>
            </a:r>
          </a:p>
        </p:txBody>
      </p:sp>
      <p:sp>
        <p:nvSpPr>
          <p:cNvPr id="194" name="Users and roles…"/>
          <p:cNvSpPr txBox="1"/>
          <p:nvPr/>
        </p:nvSpPr>
        <p:spPr>
          <a:xfrm>
            <a:off x="11049000" y="2923822"/>
            <a:ext cx="3429000" cy="6801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1800">
                <a:solidFill>
                  <a:srgbClr val="77879D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Users and roles</a:t>
            </a:r>
          </a:p>
          <a:p>
            <a:pPr>
              <a:defRPr sz="1800">
                <a:solidFill>
                  <a:srgbClr val="77879D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Host port 55432</a:t>
            </a:r>
          </a:p>
        </p:txBody>
      </p:sp>
      <p:sp>
        <p:nvSpPr>
          <p:cNvPr id="195" name="Линия"/>
          <p:cNvSpPr/>
          <p:nvPr/>
        </p:nvSpPr>
        <p:spPr>
          <a:xfrm>
            <a:off x="1143000" y="4470400"/>
            <a:ext cx="13334999" cy="0"/>
          </a:xfrm>
          <a:prstGeom prst="line">
            <a:avLst/>
          </a:prstGeom>
          <a:ln w="3175">
            <a:solidFill>
              <a:srgbClr val="000000"/>
            </a:solidFill>
            <a:miter lim="400000"/>
          </a:ln>
        </p:spPr>
        <p:txBody>
          <a:bodyPr lIns="22577" tIns="22577" rIns="22577" bIns="22577" anchor="ctr"/>
          <a:lstStyle/>
          <a:p>
            <a:pPr/>
          </a:p>
        </p:txBody>
      </p:sp>
      <p:sp>
        <p:nvSpPr>
          <p:cNvPr id="196" name="Deployment boundary"/>
          <p:cNvSpPr txBox="1"/>
          <p:nvPr/>
        </p:nvSpPr>
        <p:spPr>
          <a:xfrm>
            <a:off x="1143000" y="4974872"/>
            <a:ext cx="3048000" cy="3880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000">
                <a:solidFill>
                  <a:srgbClr val="2234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Deployment boundary</a:t>
            </a:r>
          </a:p>
        </p:txBody>
      </p:sp>
      <p:sp>
        <p:nvSpPr>
          <p:cNvPr id="197" name="The frontend and backend run independently. The backend owns security and database access. PostgreSQL never connects directly to the browser."/>
          <p:cNvSpPr txBox="1"/>
          <p:nvPr/>
        </p:nvSpPr>
        <p:spPr>
          <a:xfrm>
            <a:off x="1143000" y="5641622"/>
            <a:ext cx="13081001" cy="7309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000">
                <a:solidFill>
                  <a:srgbClr val="223448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The frontend and backend run independently. The backend owns security and database access. PostgreSQL never connects directly to the browser.</a:t>
            </a:r>
          </a:p>
        </p:txBody>
      </p:sp>
      <p:sp>
        <p:nvSpPr>
          <p:cNvPr id="198" name="Current shape"/>
          <p:cNvSpPr txBox="1"/>
          <p:nvPr/>
        </p:nvSpPr>
        <p:spPr>
          <a:xfrm>
            <a:off x="1143000" y="7267222"/>
            <a:ext cx="2159000" cy="3245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>
                <a:solidFill>
                  <a:srgbClr val="31A19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Current shape</a:t>
            </a:r>
          </a:p>
        </p:txBody>
      </p:sp>
      <p:sp>
        <p:nvSpPr>
          <p:cNvPr id="199" name="Layered modular monolith"/>
          <p:cNvSpPr txBox="1"/>
          <p:nvPr/>
        </p:nvSpPr>
        <p:spPr>
          <a:xfrm>
            <a:off x="3429000" y="7203722"/>
            <a:ext cx="5334000" cy="4261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200">
                <a:solidFill>
                  <a:srgbClr val="38527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Layered modular monolith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Backend code organization"/>
          <p:cNvSpPr txBox="1"/>
          <p:nvPr/>
        </p:nvSpPr>
        <p:spPr>
          <a:xfrm>
            <a:off x="812800" y="574322"/>
            <a:ext cx="14224000" cy="6039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3200">
                <a:solidFill>
                  <a:srgbClr val="2234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Backend code organization</a:t>
            </a:r>
          </a:p>
        </p:txBody>
      </p:sp>
      <p:sp>
        <p:nvSpPr>
          <p:cNvPr id="204" name="EasyLang  /  Sprint 1"/>
          <p:cNvSpPr txBox="1"/>
          <p:nvPr/>
        </p:nvSpPr>
        <p:spPr>
          <a:xfrm>
            <a:off x="812800" y="8664222"/>
            <a:ext cx="3048000" cy="248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200">
                <a:solidFill>
                  <a:srgbClr val="77879D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EasyLang  /  Sprint 1</a:t>
            </a:r>
          </a:p>
        </p:txBody>
      </p:sp>
      <p:sp>
        <p:nvSpPr>
          <p:cNvPr id="205" name="04"/>
          <p:cNvSpPr txBox="1"/>
          <p:nvPr/>
        </p:nvSpPr>
        <p:spPr>
          <a:xfrm>
            <a:off x="15011400" y="8664222"/>
            <a:ext cx="431800" cy="248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200">
                <a:solidFill>
                  <a:srgbClr val="31A19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206" name="Request path"/>
          <p:cNvSpPr txBox="1"/>
          <p:nvPr/>
        </p:nvSpPr>
        <p:spPr>
          <a:xfrm>
            <a:off x="812800" y="1596672"/>
            <a:ext cx="2921001" cy="3372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700">
                <a:solidFill>
                  <a:srgbClr val="31A19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Request path</a:t>
            </a:r>
          </a:p>
        </p:txBody>
      </p:sp>
      <p:sp>
        <p:nvSpPr>
          <p:cNvPr id="207" name="Controller"/>
          <p:cNvSpPr txBox="1"/>
          <p:nvPr/>
        </p:nvSpPr>
        <p:spPr>
          <a:xfrm>
            <a:off x="812800" y="2238022"/>
            <a:ext cx="2921001" cy="502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600">
                <a:solidFill>
                  <a:srgbClr val="38527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Controller</a:t>
            </a:r>
          </a:p>
        </p:txBody>
      </p:sp>
      <p:sp>
        <p:nvSpPr>
          <p:cNvPr id="208" name="HTTP input and output"/>
          <p:cNvSpPr txBox="1"/>
          <p:nvPr/>
        </p:nvSpPr>
        <p:spPr>
          <a:xfrm>
            <a:off x="812800" y="2834922"/>
            <a:ext cx="2921001" cy="3245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>
                <a:solidFill>
                  <a:srgbClr val="77879D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HTTP input and output</a:t>
            </a:r>
          </a:p>
        </p:txBody>
      </p:sp>
      <p:sp>
        <p:nvSpPr>
          <p:cNvPr id="209" name="Линия"/>
          <p:cNvSpPr/>
          <p:nvPr/>
        </p:nvSpPr>
        <p:spPr>
          <a:xfrm>
            <a:off x="3733800" y="2666999"/>
            <a:ext cx="762001" cy="1"/>
          </a:xfrm>
          <a:prstGeom prst="line">
            <a:avLst/>
          </a:prstGeom>
          <a:ln w="3175">
            <a:solidFill>
              <a:srgbClr val="000000"/>
            </a:solidFill>
            <a:miter lim="400000"/>
          </a:ln>
        </p:spPr>
        <p:txBody>
          <a:bodyPr lIns="22577" tIns="22577" rIns="22577" bIns="22577" anchor="ctr"/>
          <a:lstStyle/>
          <a:p>
            <a:pPr/>
          </a:p>
        </p:txBody>
      </p:sp>
      <p:sp>
        <p:nvSpPr>
          <p:cNvPr id="210" name="Service"/>
          <p:cNvSpPr txBox="1"/>
          <p:nvPr/>
        </p:nvSpPr>
        <p:spPr>
          <a:xfrm>
            <a:off x="4699000" y="2238022"/>
            <a:ext cx="2667000" cy="502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600">
                <a:solidFill>
                  <a:srgbClr val="38527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Service</a:t>
            </a:r>
          </a:p>
        </p:txBody>
      </p:sp>
      <p:sp>
        <p:nvSpPr>
          <p:cNvPr id="211" name="Use cases and decisions"/>
          <p:cNvSpPr txBox="1"/>
          <p:nvPr/>
        </p:nvSpPr>
        <p:spPr>
          <a:xfrm>
            <a:off x="4698999" y="2834922"/>
            <a:ext cx="2921001" cy="3245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>
                <a:solidFill>
                  <a:srgbClr val="77879D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Use cases and decisions</a:t>
            </a:r>
          </a:p>
        </p:txBody>
      </p:sp>
      <p:sp>
        <p:nvSpPr>
          <p:cNvPr id="212" name="Линия"/>
          <p:cNvSpPr/>
          <p:nvPr/>
        </p:nvSpPr>
        <p:spPr>
          <a:xfrm flipV="1">
            <a:off x="7620000" y="2666999"/>
            <a:ext cx="762001" cy="2"/>
          </a:xfrm>
          <a:prstGeom prst="line">
            <a:avLst/>
          </a:prstGeom>
          <a:ln w="3175">
            <a:solidFill>
              <a:srgbClr val="000000"/>
            </a:solidFill>
            <a:miter lim="400000"/>
          </a:ln>
        </p:spPr>
        <p:txBody>
          <a:bodyPr lIns="22577" tIns="22577" rIns="22577" bIns="22577" anchor="ctr"/>
          <a:lstStyle/>
          <a:p>
            <a:pPr/>
          </a:p>
        </p:txBody>
      </p:sp>
      <p:sp>
        <p:nvSpPr>
          <p:cNvPr id="213" name="Repository"/>
          <p:cNvSpPr txBox="1"/>
          <p:nvPr/>
        </p:nvSpPr>
        <p:spPr>
          <a:xfrm>
            <a:off x="8585199" y="2238022"/>
            <a:ext cx="2921001" cy="502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600">
                <a:solidFill>
                  <a:srgbClr val="38527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Repository</a:t>
            </a:r>
          </a:p>
        </p:txBody>
      </p:sp>
      <p:sp>
        <p:nvSpPr>
          <p:cNvPr id="214" name="Database queries"/>
          <p:cNvSpPr txBox="1"/>
          <p:nvPr/>
        </p:nvSpPr>
        <p:spPr>
          <a:xfrm>
            <a:off x="8585200" y="2834922"/>
            <a:ext cx="2667000" cy="3245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>
                <a:solidFill>
                  <a:srgbClr val="77879D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Database queries</a:t>
            </a:r>
          </a:p>
        </p:txBody>
      </p:sp>
      <p:sp>
        <p:nvSpPr>
          <p:cNvPr id="215" name="Линия"/>
          <p:cNvSpPr/>
          <p:nvPr/>
        </p:nvSpPr>
        <p:spPr>
          <a:xfrm flipV="1">
            <a:off x="11506200" y="2667000"/>
            <a:ext cx="762001" cy="1"/>
          </a:xfrm>
          <a:prstGeom prst="line">
            <a:avLst/>
          </a:prstGeom>
          <a:ln w="3175">
            <a:solidFill>
              <a:srgbClr val="000000"/>
            </a:solidFill>
            <a:miter lim="400000"/>
          </a:ln>
        </p:spPr>
        <p:txBody>
          <a:bodyPr lIns="22577" tIns="22577" rIns="22577" bIns="22577" anchor="ctr"/>
          <a:lstStyle/>
          <a:p>
            <a:pPr/>
          </a:p>
        </p:txBody>
      </p:sp>
      <p:sp>
        <p:nvSpPr>
          <p:cNvPr id="216" name="Model"/>
          <p:cNvSpPr txBox="1"/>
          <p:nvPr/>
        </p:nvSpPr>
        <p:spPr>
          <a:xfrm>
            <a:off x="12471400" y="2238022"/>
            <a:ext cx="2413001" cy="502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600">
                <a:solidFill>
                  <a:srgbClr val="38527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Model</a:t>
            </a:r>
          </a:p>
        </p:txBody>
      </p:sp>
      <p:sp>
        <p:nvSpPr>
          <p:cNvPr id="217" name="Entities and roles"/>
          <p:cNvSpPr txBox="1"/>
          <p:nvPr/>
        </p:nvSpPr>
        <p:spPr>
          <a:xfrm>
            <a:off x="12471400" y="2834922"/>
            <a:ext cx="2540000" cy="3245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>
                <a:solidFill>
                  <a:srgbClr val="77879D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Entities and roles</a:t>
            </a:r>
          </a:p>
        </p:txBody>
      </p:sp>
      <p:sp>
        <p:nvSpPr>
          <p:cNvPr id="218" name="Линия"/>
          <p:cNvSpPr/>
          <p:nvPr/>
        </p:nvSpPr>
        <p:spPr>
          <a:xfrm>
            <a:off x="812799" y="3810000"/>
            <a:ext cx="14173202" cy="0"/>
          </a:xfrm>
          <a:prstGeom prst="line">
            <a:avLst/>
          </a:prstGeom>
          <a:ln w="3175">
            <a:solidFill>
              <a:srgbClr val="000000"/>
            </a:solidFill>
            <a:miter lim="400000"/>
          </a:ln>
        </p:spPr>
        <p:txBody>
          <a:bodyPr lIns="22577" tIns="22577" rIns="22577" bIns="22577" anchor="ctr"/>
          <a:lstStyle/>
          <a:p>
            <a:pPr/>
          </a:p>
        </p:txBody>
      </p:sp>
      <p:sp>
        <p:nvSpPr>
          <p:cNvPr id="219" name="Supporting packages"/>
          <p:cNvSpPr txBox="1"/>
          <p:nvPr/>
        </p:nvSpPr>
        <p:spPr>
          <a:xfrm>
            <a:off x="812800" y="4390672"/>
            <a:ext cx="3302000" cy="3880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000">
                <a:solidFill>
                  <a:srgbClr val="2234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Supporting packages</a:t>
            </a:r>
          </a:p>
        </p:txBody>
      </p:sp>
      <p:sp>
        <p:nvSpPr>
          <p:cNvPr id="220" name="A"/>
          <p:cNvSpPr txBox="1"/>
          <p:nvPr/>
        </p:nvSpPr>
        <p:spPr>
          <a:xfrm>
            <a:off x="812800" y="5247922"/>
            <a:ext cx="711200" cy="5277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800">
                <a:solidFill>
                  <a:srgbClr val="31A19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221" name="security"/>
          <p:cNvSpPr txBox="1"/>
          <p:nvPr/>
        </p:nvSpPr>
        <p:spPr>
          <a:xfrm>
            <a:off x="1651000" y="5216172"/>
            <a:ext cx="3606801" cy="413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100">
                <a:solidFill>
                  <a:srgbClr val="2234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security</a:t>
            </a:r>
          </a:p>
        </p:txBody>
      </p:sp>
      <p:sp>
        <p:nvSpPr>
          <p:cNvPr id="222" name="JWT filter and authenticated principal"/>
          <p:cNvSpPr txBox="1"/>
          <p:nvPr/>
        </p:nvSpPr>
        <p:spPr>
          <a:xfrm>
            <a:off x="1651000" y="5946422"/>
            <a:ext cx="3606800" cy="3245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>
                <a:solidFill>
                  <a:srgbClr val="77879D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JWT filter and authenticated principal</a:t>
            </a:r>
          </a:p>
        </p:txBody>
      </p:sp>
      <p:sp>
        <p:nvSpPr>
          <p:cNvPr id="223" name="B"/>
          <p:cNvSpPr txBox="1"/>
          <p:nvPr/>
        </p:nvSpPr>
        <p:spPr>
          <a:xfrm>
            <a:off x="5816600" y="5247922"/>
            <a:ext cx="711200" cy="5277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800">
                <a:solidFill>
                  <a:srgbClr val="31A19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224" name="dto"/>
          <p:cNvSpPr txBox="1"/>
          <p:nvPr/>
        </p:nvSpPr>
        <p:spPr>
          <a:xfrm>
            <a:off x="6654800" y="5216172"/>
            <a:ext cx="3606800" cy="413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100">
                <a:solidFill>
                  <a:srgbClr val="2234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dto</a:t>
            </a:r>
          </a:p>
        </p:txBody>
      </p:sp>
      <p:sp>
        <p:nvSpPr>
          <p:cNvPr id="225" name="API requests, responses, and safe profile data"/>
          <p:cNvSpPr txBox="1"/>
          <p:nvPr/>
        </p:nvSpPr>
        <p:spPr>
          <a:xfrm>
            <a:off x="6654800" y="5692422"/>
            <a:ext cx="3606800" cy="6039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>
                <a:solidFill>
                  <a:srgbClr val="77879D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API requests, responses, and safe profile data</a:t>
            </a:r>
          </a:p>
        </p:txBody>
      </p:sp>
      <p:sp>
        <p:nvSpPr>
          <p:cNvPr id="226" name="C"/>
          <p:cNvSpPr txBox="1"/>
          <p:nvPr/>
        </p:nvSpPr>
        <p:spPr>
          <a:xfrm>
            <a:off x="10820400" y="5247922"/>
            <a:ext cx="711200" cy="5277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800">
                <a:solidFill>
                  <a:srgbClr val="31A19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227" name="config + common"/>
          <p:cNvSpPr txBox="1"/>
          <p:nvPr/>
        </p:nvSpPr>
        <p:spPr>
          <a:xfrm>
            <a:off x="11658599" y="5216172"/>
            <a:ext cx="3606801" cy="413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100">
                <a:solidFill>
                  <a:srgbClr val="2234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config + common</a:t>
            </a:r>
          </a:p>
        </p:txBody>
      </p:sp>
      <p:sp>
        <p:nvSpPr>
          <p:cNvPr id="228" name="Spring wiring, access rules, and consistent errors"/>
          <p:cNvSpPr txBox="1"/>
          <p:nvPr/>
        </p:nvSpPr>
        <p:spPr>
          <a:xfrm>
            <a:off x="11658600" y="5692422"/>
            <a:ext cx="3606801" cy="6039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>
                <a:solidFill>
                  <a:srgbClr val="77879D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Spring wiring, access rules, and consistent errors</a:t>
            </a:r>
          </a:p>
        </p:txBody>
      </p:sp>
      <p:sp>
        <p:nvSpPr>
          <p:cNvPr id="229" name="Rule: controllers call services; services call repositories."/>
          <p:cNvSpPr txBox="1"/>
          <p:nvPr/>
        </p:nvSpPr>
        <p:spPr>
          <a:xfrm>
            <a:off x="812800" y="7775222"/>
            <a:ext cx="9652000" cy="375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900">
                <a:solidFill>
                  <a:srgbClr val="31A19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Rule: controllers call services; services call repositories.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Login and role authorization flow"/>
          <p:cNvSpPr txBox="1"/>
          <p:nvPr/>
        </p:nvSpPr>
        <p:spPr>
          <a:xfrm>
            <a:off x="812800" y="574322"/>
            <a:ext cx="14224001" cy="6039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3200">
                <a:solidFill>
                  <a:srgbClr val="2234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Login and role authorization flow</a:t>
            </a:r>
          </a:p>
        </p:txBody>
      </p:sp>
      <p:sp>
        <p:nvSpPr>
          <p:cNvPr id="234" name="EasyLang  /  Sprint 1"/>
          <p:cNvSpPr txBox="1"/>
          <p:nvPr/>
        </p:nvSpPr>
        <p:spPr>
          <a:xfrm>
            <a:off x="812800" y="8664222"/>
            <a:ext cx="3048000" cy="248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200">
                <a:solidFill>
                  <a:srgbClr val="77879D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EasyLang  /  Sprint 1</a:t>
            </a:r>
          </a:p>
        </p:txBody>
      </p:sp>
      <p:sp>
        <p:nvSpPr>
          <p:cNvPr id="235" name="05"/>
          <p:cNvSpPr txBox="1"/>
          <p:nvPr/>
        </p:nvSpPr>
        <p:spPr>
          <a:xfrm>
            <a:off x="15011400" y="8664222"/>
            <a:ext cx="431800" cy="248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200">
                <a:solidFill>
                  <a:srgbClr val="31A19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236" name="01"/>
          <p:cNvSpPr txBox="1"/>
          <p:nvPr/>
        </p:nvSpPr>
        <p:spPr>
          <a:xfrm>
            <a:off x="812800" y="1641122"/>
            <a:ext cx="711200" cy="5277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800">
                <a:solidFill>
                  <a:srgbClr val="31A19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37" name="CSRF token"/>
          <p:cNvSpPr txBox="1"/>
          <p:nvPr/>
        </p:nvSpPr>
        <p:spPr>
          <a:xfrm>
            <a:off x="1651000" y="1609372"/>
            <a:ext cx="5892801" cy="413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100">
                <a:solidFill>
                  <a:srgbClr val="2234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CSRF token</a:t>
            </a:r>
          </a:p>
        </p:txBody>
      </p:sp>
      <p:sp>
        <p:nvSpPr>
          <p:cNvPr id="238" name="The browser requests a token before sending credentials."/>
          <p:cNvSpPr txBox="1"/>
          <p:nvPr/>
        </p:nvSpPr>
        <p:spPr>
          <a:xfrm>
            <a:off x="1651000" y="2339622"/>
            <a:ext cx="5892800" cy="3245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>
                <a:solidFill>
                  <a:srgbClr val="77879D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The browser requests a token before sending credentials.</a:t>
            </a:r>
          </a:p>
        </p:txBody>
      </p:sp>
      <p:sp>
        <p:nvSpPr>
          <p:cNvPr id="239" name="02"/>
          <p:cNvSpPr txBox="1"/>
          <p:nvPr/>
        </p:nvSpPr>
        <p:spPr>
          <a:xfrm>
            <a:off x="8255000" y="1641122"/>
            <a:ext cx="711200" cy="5277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800">
                <a:solidFill>
                  <a:srgbClr val="31A19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40" name="Credential check"/>
          <p:cNvSpPr txBox="1"/>
          <p:nvPr/>
        </p:nvSpPr>
        <p:spPr>
          <a:xfrm>
            <a:off x="9093200" y="1609372"/>
            <a:ext cx="5892800" cy="413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100">
                <a:solidFill>
                  <a:srgbClr val="2234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Credential check</a:t>
            </a:r>
          </a:p>
        </p:txBody>
      </p:sp>
      <p:sp>
        <p:nvSpPr>
          <p:cNvPr id="241" name="Spring Security loads the user and compares the BCrypt hash."/>
          <p:cNvSpPr txBox="1"/>
          <p:nvPr/>
        </p:nvSpPr>
        <p:spPr>
          <a:xfrm>
            <a:off x="9093200" y="2339622"/>
            <a:ext cx="5892800" cy="3245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>
                <a:solidFill>
                  <a:srgbClr val="77879D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Spring Security loads the user and compares the BCrypt hash.</a:t>
            </a:r>
          </a:p>
        </p:txBody>
      </p:sp>
      <p:sp>
        <p:nvSpPr>
          <p:cNvPr id="242" name="03"/>
          <p:cNvSpPr txBox="1"/>
          <p:nvPr/>
        </p:nvSpPr>
        <p:spPr>
          <a:xfrm>
            <a:off x="812800" y="3673122"/>
            <a:ext cx="711200" cy="5277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800">
                <a:solidFill>
                  <a:srgbClr val="31A19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43" name="JWT cookie"/>
          <p:cNvSpPr txBox="1"/>
          <p:nvPr/>
        </p:nvSpPr>
        <p:spPr>
          <a:xfrm>
            <a:off x="1651000" y="3641372"/>
            <a:ext cx="5892801" cy="413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100">
                <a:solidFill>
                  <a:srgbClr val="2234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JWT cookie</a:t>
            </a:r>
          </a:p>
        </p:txBody>
      </p:sp>
      <p:sp>
        <p:nvSpPr>
          <p:cNvPr id="244" name="The API signs a token and stores it in an HttpOnly cookie."/>
          <p:cNvSpPr txBox="1"/>
          <p:nvPr/>
        </p:nvSpPr>
        <p:spPr>
          <a:xfrm>
            <a:off x="1651000" y="4371622"/>
            <a:ext cx="5892800" cy="3245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>
                <a:solidFill>
                  <a:srgbClr val="77879D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The API signs a token and stores it in an HttpOnly cookie.</a:t>
            </a:r>
          </a:p>
        </p:txBody>
      </p:sp>
      <p:sp>
        <p:nvSpPr>
          <p:cNvPr id="245" name="04"/>
          <p:cNvSpPr txBox="1"/>
          <p:nvPr/>
        </p:nvSpPr>
        <p:spPr>
          <a:xfrm>
            <a:off x="8255000" y="3673122"/>
            <a:ext cx="711200" cy="5277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800">
                <a:solidFill>
                  <a:srgbClr val="31A19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246" name="Role redirect"/>
          <p:cNvSpPr txBox="1"/>
          <p:nvPr/>
        </p:nvSpPr>
        <p:spPr>
          <a:xfrm>
            <a:off x="9093200" y="3641372"/>
            <a:ext cx="5892801" cy="413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100">
                <a:solidFill>
                  <a:srgbClr val="2234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Role redirect</a:t>
            </a:r>
          </a:p>
        </p:txBody>
      </p:sp>
      <p:sp>
        <p:nvSpPr>
          <p:cNvPr id="247" name="React opens the workspace for the returned database role."/>
          <p:cNvSpPr txBox="1"/>
          <p:nvPr/>
        </p:nvSpPr>
        <p:spPr>
          <a:xfrm>
            <a:off x="9093200" y="4371622"/>
            <a:ext cx="5892800" cy="3245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>
                <a:solidFill>
                  <a:srgbClr val="77879D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React opens the workspace for the returned database role.</a:t>
            </a:r>
          </a:p>
        </p:txBody>
      </p:sp>
      <p:sp>
        <p:nvSpPr>
          <p:cNvPr id="248" name="05"/>
          <p:cNvSpPr txBox="1"/>
          <p:nvPr/>
        </p:nvSpPr>
        <p:spPr>
          <a:xfrm>
            <a:off x="812800" y="5705122"/>
            <a:ext cx="711200" cy="5277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800">
                <a:solidFill>
                  <a:srgbClr val="31A19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249" name="Request authentication"/>
          <p:cNvSpPr txBox="1"/>
          <p:nvPr/>
        </p:nvSpPr>
        <p:spPr>
          <a:xfrm>
            <a:off x="1651000" y="5673372"/>
            <a:ext cx="5892800" cy="413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100">
                <a:solidFill>
                  <a:srgbClr val="2234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Request authentication</a:t>
            </a:r>
          </a:p>
        </p:txBody>
      </p:sp>
      <p:sp>
        <p:nvSpPr>
          <p:cNvPr id="250" name="The JWT filter verifies the cookie and reloads the active user."/>
          <p:cNvSpPr txBox="1"/>
          <p:nvPr/>
        </p:nvSpPr>
        <p:spPr>
          <a:xfrm>
            <a:off x="1651000" y="6403622"/>
            <a:ext cx="5892800" cy="3245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>
                <a:solidFill>
                  <a:srgbClr val="77879D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The JWT filter verifies the cookie and reloads the active user.</a:t>
            </a:r>
          </a:p>
        </p:txBody>
      </p:sp>
      <p:sp>
        <p:nvSpPr>
          <p:cNvPr id="251" name="06"/>
          <p:cNvSpPr txBox="1"/>
          <p:nvPr/>
        </p:nvSpPr>
        <p:spPr>
          <a:xfrm>
            <a:off x="8255000" y="5705122"/>
            <a:ext cx="711200" cy="5277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800">
                <a:solidFill>
                  <a:srgbClr val="31A19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252" name="Backend role rule"/>
          <p:cNvSpPr txBox="1"/>
          <p:nvPr/>
        </p:nvSpPr>
        <p:spPr>
          <a:xfrm>
            <a:off x="9093200" y="5673372"/>
            <a:ext cx="5892800" cy="413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100">
                <a:solidFill>
                  <a:srgbClr val="2234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Backend role rule</a:t>
            </a:r>
          </a:p>
        </p:txBody>
      </p:sp>
      <p:sp>
        <p:nvSpPr>
          <p:cNvPr id="253" name="Spring returns data, 401, or 403 before the controller executes."/>
          <p:cNvSpPr txBox="1"/>
          <p:nvPr/>
        </p:nvSpPr>
        <p:spPr>
          <a:xfrm>
            <a:off x="9093200" y="6403622"/>
            <a:ext cx="5892800" cy="3245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>
                <a:solidFill>
                  <a:srgbClr val="77879D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Spring returns data, 401, or 403 before the controller executes.</a:t>
            </a:r>
          </a:p>
        </p:txBody>
      </p:sp>
      <p:sp>
        <p:nvSpPr>
          <p:cNvPr id="254" name="The frontend route guard improves navigation. Spring Security enforces access."/>
          <p:cNvSpPr txBox="1"/>
          <p:nvPr/>
        </p:nvSpPr>
        <p:spPr>
          <a:xfrm>
            <a:off x="812800" y="7902222"/>
            <a:ext cx="13081000" cy="375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900">
                <a:solidFill>
                  <a:srgbClr val="31A19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The frontend route guard improves navigation. Spring Security enforces access.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Data model and API surface"/>
          <p:cNvSpPr txBox="1"/>
          <p:nvPr/>
        </p:nvSpPr>
        <p:spPr>
          <a:xfrm>
            <a:off x="812800" y="574322"/>
            <a:ext cx="14224001" cy="6039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3200">
                <a:solidFill>
                  <a:srgbClr val="2234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Data model and API surface</a:t>
            </a:r>
          </a:p>
        </p:txBody>
      </p:sp>
      <p:sp>
        <p:nvSpPr>
          <p:cNvPr id="259" name="EasyLang  /  Sprint 1"/>
          <p:cNvSpPr txBox="1"/>
          <p:nvPr/>
        </p:nvSpPr>
        <p:spPr>
          <a:xfrm>
            <a:off x="812800" y="8664222"/>
            <a:ext cx="3048000" cy="248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200">
                <a:solidFill>
                  <a:srgbClr val="77879D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EasyLang  /  Sprint 1</a:t>
            </a:r>
          </a:p>
        </p:txBody>
      </p:sp>
      <p:sp>
        <p:nvSpPr>
          <p:cNvPr id="260" name="06"/>
          <p:cNvSpPr txBox="1"/>
          <p:nvPr/>
        </p:nvSpPr>
        <p:spPr>
          <a:xfrm>
            <a:off x="15011400" y="8664222"/>
            <a:ext cx="431800" cy="248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200">
                <a:solidFill>
                  <a:srgbClr val="31A19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261" name="app_users"/>
          <p:cNvSpPr txBox="1"/>
          <p:nvPr/>
        </p:nvSpPr>
        <p:spPr>
          <a:xfrm>
            <a:off x="812800" y="1609372"/>
            <a:ext cx="3810000" cy="5150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700">
                <a:solidFill>
                  <a:srgbClr val="38527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app_users</a:t>
            </a:r>
          </a:p>
        </p:txBody>
      </p:sp>
      <p:sp>
        <p:nvSpPr>
          <p:cNvPr id="262" name="id…"/>
          <p:cNvSpPr txBox="1"/>
          <p:nvPr/>
        </p:nvSpPr>
        <p:spPr>
          <a:xfrm>
            <a:off x="812800" y="3330222"/>
            <a:ext cx="4191000" cy="24835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000">
                <a:solidFill>
                  <a:srgbClr val="223448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id</a:t>
            </a:r>
          </a:p>
          <a:p>
            <a:pPr>
              <a:defRPr sz="2000">
                <a:solidFill>
                  <a:srgbClr val="223448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email</a:t>
            </a:r>
          </a:p>
          <a:p>
            <a:pPr>
              <a:defRPr sz="2000">
                <a:solidFill>
                  <a:srgbClr val="223448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initials</a:t>
            </a:r>
          </a:p>
          <a:p>
            <a:pPr>
              <a:defRPr sz="2000">
                <a:solidFill>
                  <a:srgbClr val="223448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full_name</a:t>
            </a:r>
          </a:p>
          <a:p>
            <a:pPr>
              <a:defRPr sz="2000">
                <a:solidFill>
                  <a:srgbClr val="223448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password_hash</a:t>
            </a:r>
          </a:p>
          <a:p>
            <a:pPr>
              <a:defRPr sz="2000">
                <a:solidFill>
                  <a:srgbClr val="223448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role</a:t>
            </a:r>
          </a:p>
          <a:p>
            <a:pPr>
              <a:defRPr sz="2000">
                <a:solidFill>
                  <a:srgbClr val="223448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is_active</a:t>
            </a:r>
          </a:p>
          <a:p>
            <a:pPr>
              <a:defRPr sz="2000">
                <a:solidFill>
                  <a:srgbClr val="223448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created_at</a:t>
            </a:r>
          </a:p>
        </p:txBody>
      </p:sp>
      <p:sp>
        <p:nvSpPr>
          <p:cNvPr id="263" name="Database rules"/>
          <p:cNvSpPr txBox="1"/>
          <p:nvPr/>
        </p:nvSpPr>
        <p:spPr>
          <a:xfrm>
            <a:off x="812800" y="6981472"/>
            <a:ext cx="2413000" cy="3372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700">
                <a:solidFill>
                  <a:srgbClr val="31A19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Database rules</a:t>
            </a:r>
          </a:p>
        </p:txBody>
      </p:sp>
      <p:sp>
        <p:nvSpPr>
          <p:cNvPr id="264" name="Unique email, constrained role, Flyway migration, Hibernate validation"/>
          <p:cNvSpPr txBox="1"/>
          <p:nvPr/>
        </p:nvSpPr>
        <p:spPr>
          <a:xfrm>
            <a:off x="812800" y="7406922"/>
            <a:ext cx="5461000" cy="629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700">
                <a:solidFill>
                  <a:srgbClr val="77879D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Unique email, constrained role, Flyway migration, Hibernate validation</a:t>
            </a:r>
          </a:p>
        </p:txBody>
      </p:sp>
      <p:sp>
        <p:nvSpPr>
          <p:cNvPr id="265" name="Линия"/>
          <p:cNvSpPr/>
          <p:nvPr/>
        </p:nvSpPr>
        <p:spPr>
          <a:xfrm flipH="1">
            <a:off x="6477000" y="1600199"/>
            <a:ext cx="1" cy="6477001"/>
          </a:xfrm>
          <a:prstGeom prst="line">
            <a:avLst/>
          </a:prstGeom>
          <a:ln w="3175">
            <a:solidFill>
              <a:srgbClr val="000000"/>
            </a:solidFill>
            <a:miter lim="400000"/>
          </a:ln>
        </p:spPr>
        <p:txBody>
          <a:bodyPr lIns="22577" tIns="22577" rIns="22577" bIns="22577" anchor="ctr"/>
          <a:lstStyle/>
          <a:p>
            <a:pPr/>
          </a:p>
        </p:txBody>
      </p:sp>
      <p:sp>
        <p:nvSpPr>
          <p:cNvPr id="266" name="Authentication API"/>
          <p:cNvSpPr txBox="1"/>
          <p:nvPr/>
        </p:nvSpPr>
        <p:spPr>
          <a:xfrm>
            <a:off x="7239000" y="1609372"/>
            <a:ext cx="5461000" cy="5150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700">
                <a:solidFill>
                  <a:srgbClr val="38527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Authentication API</a:t>
            </a:r>
          </a:p>
        </p:txBody>
      </p:sp>
      <p:sp>
        <p:nvSpPr>
          <p:cNvPr id="267" name="GET"/>
          <p:cNvSpPr txBox="1"/>
          <p:nvPr/>
        </p:nvSpPr>
        <p:spPr>
          <a:xfrm>
            <a:off x="7238999" y="2587272"/>
            <a:ext cx="914401" cy="3372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700">
                <a:solidFill>
                  <a:srgbClr val="31A19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GET</a:t>
            </a:r>
          </a:p>
        </p:txBody>
      </p:sp>
      <p:sp>
        <p:nvSpPr>
          <p:cNvPr id="268" name="/api/v1/auth/csrf"/>
          <p:cNvSpPr txBox="1"/>
          <p:nvPr/>
        </p:nvSpPr>
        <p:spPr>
          <a:xfrm>
            <a:off x="8305799" y="2599972"/>
            <a:ext cx="5461001" cy="3118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800">
                <a:solidFill>
                  <a:srgbClr val="223448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/api/v1/auth/csrf</a:t>
            </a:r>
          </a:p>
        </p:txBody>
      </p:sp>
      <p:sp>
        <p:nvSpPr>
          <p:cNvPr id="269" name="POST"/>
          <p:cNvSpPr txBox="1"/>
          <p:nvPr/>
        </p:nvSpPr>
        <p:spPr>
          <a:xfrm>
            <a:off x="7239000" y="3374672"/>
            <a:ext cx="914400" cy="3372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700">
                <a:solidFill>
                  <a:srgbClr val="31A19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POST</a:t>
            </a:r>
          </a:p>
        </p:txBody>
      </p:sp>
      <p:sp>
        <p:nvSpPr>
          <p:cNvPr id="270" name="/api/v1/auth/login"/>
          <p:cNvSpPr txBox="1"/>
          <p:nvPr/>
        </p:nvSpPr>
        <p:spPr>
          <a:xfrm>
            <a:off x="8305800" y="3387372"/>
            <a:ext cx="5461000" cy="3118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800">
                <a:solidFill>
                  <a:srgbClr val="223448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/api/v1/auth/login</a:t>
            </a:r>
          </a:p>
        </p:txBody>
      </p:sp>
      <p:sp>
        <p:nvSpPr>
          <p:cNvPr id="271" name="GET"/>
          <p:cNvSpPr txBox="1"/>
          <p:nvPr/>
        </p:nvSpPr>
        <p:spPr>
          <a:xfrm>
            <a:off x="7238999" y="4162072"/>
            <a:ext cx="914401" cy="3372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700">
                <a:solidFill>
                  <a:srgbClr val="31A19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GET</a:t>
            </a:r>
          </a:p>
        </p:txBody>
      </p:sp>
      <p:sp>
        <p:nvSpPr>
          <p:cNvPr id="272" name="/api/v1/auth/me"/>
          <p:cNvSpPr txBox="1"/>
          <p:nvPr/>
        </p:nvSpPr>
        <p:spPr>
          <a:xfrm>
            <a:off x="8305800" y="4174772"/>
            <a:ext cx="5461001" cy="3118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800">
                <a:solidFill>
                  <a:srgbClr val="223448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/api/v1/auth/me</a:t>
            </a:r>
          </a:p>
        </p:txBody>
      </p:sp>
      <p:sp>
        <p:nvSpPr>
          <p:cNvPr id="273" name="POST"/>
          <p:cNvSpPr txBox="1"/>
          <p:nvPr/>
        </p:nvSpPr>
        <p:spPr>
          <a:xfrm>
            <a:off x="7239000" y="4949472"/>
            <a:ext cx="914400" cy="3372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700">
                <a:solidFill>
                  <a:srgbClr val="31A19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POST</a:t>
            </a:r>
          </a:p>
        </p:txBody>
      </p:sp>
      <p:sp>
        <p:nvSpPr>
          <p:cNvPr id="274" name="/api/v1/auth/logout"/>
          <p:cNvSpPr txBox="1"/>
          <p:nvPr/>
        </p:nvSpPr>
        <p:spPr>
          <a:xfrm>
            <a:off x="8305799" y="4962172"/>
            <a:ext cx="5461001" cy="3118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800">
                <a:solidFill>
                  <a:srgbClr val="223448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/api/v1/auth/logout</a:t>
            </a:r>
          </a:p>
        </p:txBody>
      </p:sp>
      <p:sp>
        <p:nvSpPr>
          <p:cNvPr id="275" name="Role endpoints"/>
          <p:cNvSpPr txBox="1"/>
          <p:nvPr/>
        </p:nvSpPr>
        <p:spPr>
          <a:xfrm>
            <a:off x="7238999" y="6016272"/>
            <a:ext cx="3302001" cy="3880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000">
                <a:solidFill>
                  <a:srgbClr val="38527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Role endpoints</a:t>
            </a:r>
          </a:p>
        </p:txBody>
      </p:sp>
      <p:sp>
        <p:nvSpPr>
          <p:cNvPr id="276" name="/workspaces/translator…"/>
          <p:cNvSpPr txBox="1"/>
          <p:nvPr/>
        </p:nvSpPr>
        <p:spPr>
          <a:xfrm>
            <a:off x="7239000" y="6854472"/>
            <a:ext cx="6858000" cy="8452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1800">
                <a:solidFill>
                  <a:srgbClr val="223448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/workspaces/translator</a:t>
            </a:r>
          </a:p>
          <a:p>
            <a:pPr>
              <a:defRPr sz="1800">
                <a:solidFill>
                  <a:srgbClr val="223448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/workspaces/chief-editor</a:t>
            </a:r>
          </a:p>
          <a:p>
            <a:pPr>
              <a:defRPr sz="1800">
                <a:solidFill>
                  <a:srgbClr val="223448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/workspaces/project-manager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Implemented user interface"/>
          <p:cNvSpPr txBox="1"/>
          <p:nvPr/>
        </p:nvSpPr>
        <p:spPr>
          <a:xfrm>
            <a:off x="812800" y="574322"/>
            <a:ext cx="14224000" cy="6039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3200">
                <a:solidFill>
                  <a:srgbClr val="2234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Implemented user interface</a:t>
            </a:r>
          </a:p>
        </p:txBody>
      </p:sp>
      <p:sp>
        <p:nvSpPr>
          <p:cNvPr id="281" name="EasyLang  /  Sprint 1"/>
          <p:cNvSpPr txBox="1"/>
          <p:nvPr/>
        </p:nvSpPr>
        <p:spPr>
          <a:xfrm>
            <a:off x="812800" y="8664222"/>
            <a:ext cx="3048000" cy="248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200">
                <a:solidFill>
                  <a:srgbClr val="77879D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EasyLang  /  Sprint 1</a:t>
            </a:r>
          </a:p>
        </p:txBody>
      </p:sp>
      <p:sp>
        <p:nvSpPr>
          <p:cNvPr id="282" name="07"/>
          <p:cNvSpPr txBox="1"/>
          <p:nvPr/>
        </p:nvSpPr>
        <p:spPr>
          <a:xfrm>
            <a:off x="15011400" y="8664222"/>
            <a:ext cx="431800" cy="248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200">
                <a:solidFill>
                  <a:srgbClr val="31A19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283" name="Login"/>
          <p:cNvSpPr txBox="1"/>
          <p:nvPr/>
        </p:nvSpPr>
        <p:spPr>
          <a:xfrm>
            <a:off x="812800" y="1431572"/>
            <a:ext cx="2794000" cy="3880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000">
                <a:solidFill>
                  <a:srgbClr val="38527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Login</a:t>
            </a:r>
          </a:p>
        </p:txBody>
      </p:sp>
      <p:sp>
        <p:nvSpPr>
          <p:cNvPr id="284" name="Project Manager workspace"/>
          <p:cNvSpPr txBox="1"/>
          <p:nvPr/>
        </p:nvSpPr>
        <p:spPr>
          <a:xfrm>
            <a:off x="8331200" y="1431572"/>
            <a:ext cx="4572000" cy="3880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000">
                <a:solidFill>
                  <a:srgbClr val="38527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Project Manager workspace</a:t>
            </a:r>
          </a:p>
        </p:txBody>
      </p:sp>
      <p:pic>
        <p:nvPicPr>
          <p:cNvPr id="285" name="login-page.png" descr="login-p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12800" y="2006600"/>
            <a:ext cx="7116516" cy="5003800"/>
          </a:xfrm>
          <a:prstGeom prst="rect">
            <a:avLst/>
          </a:prstGeom>
          <a:ln w="3175">
            <a:miter lim="400000"/>
          </a:ln>
        </p:spPr>
      </p:pic>
      <p:pic>
        <p:nvPicPr>
          <p:cNvPr id="286" name="project-manager-workspace.png" descr="project-manager-workspac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331199" y="2006600"/>
            <a:ext cx="7116517" cy="5003800"/>
          </a:xfrm>
          <a:prstGeom prst="rect">
            <a:avLst/>
          </a:prstGeom>
          <a:ln w="3175">
            <a:miter lim="400000"/>
          </a:ln>
        </p:spPr>
      </p:pic>
      <p:sp>
        <p:nvSpPr>
          <p:cNvPr id="287" name="Compact light design, demo role autofill, responsive layout, visible account and access scope"/>
          <p:cNvSpPr txBox="1"/>
          <p:nvPr/>
        </p:nvSpPr>
        <p:spPr>
          <a:xfrm>
            <a:off x="812800" y="7578372"/>
            <a:ext cx="14097000" cy="362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800">
                <a:solidFill>
                  <a:srgbClr val="223448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Compact light design, demo role autofill, responsive layout, visible account and access scope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Verification evidence"/>
          <p:cNvSpPr txBox="1"/>
          <p:nvPr/>
        </p:nvSpPr>
        <p:spPr>
          <a:xfrm>
            <a:off x="812800" y="574322"/>
            <a:ext cx="14224000" cy="6039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3200">
                <a:solidFill>
                  <a:srgbClr val="2234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Verification evidence</a:t>
            </a:r>
          </a:p>
        </p:txBody>
      </p:sp>
      <p:sp>
        <p:nvSpPr>
          <p:cNvPr id="292" name="EasyLang  /  Sprint 1"/>
          <p:cNvSpPr txBox="1"/>
          <p:nvPr/>
        </p:nvSpPr>
        <p:spPr>
          <a:xfrm>
            <a:off x="812800" y="8664222"/>
            <a:ext cx="3048000" cy="248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200">
                <a:solidFill>
                  <a:srgbClr val="77879D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EasyLang  /  Sprint 1</a:t>
            </a:r>
          </a:p>
        </p:txBody>
      </p:sp>
      <p:sp>
        <p:nvSpPr>
          <p:cNvPr id="293" name="08"/>
          <p:cNvSpPr txBox="1"/>
          <p:nvPr/>
        </p:nvSpPr>
        <p:spPr>
          <a:xfrm>
            <a:off x="15011400" y="8664222"/>
            <a:ext cx="431800" cy="248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200">
                <a:solidFill>
                  <a:srgbClr val="31A19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294" name="5 / 5"/>
          <p:cNvSpPr txBox="1"/>
          <p:nvPr/>
        </p:nvSpPr>
        <p:spPr>
          <a:xfrm>
            <a:off x="888999" y="1895122"/>
            <a:ext cx="3048002" cy="8071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4400">
                <a:solidFill>
                  <a:srgbClr val="31A19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5 / 5</a:t>
            </a:r>
          </a:p>
        </p:txBody>
      </p:sp>
      <p:sp>
        <p:nvSpPr>
          <p:cNvPr id="295" name="Backend integration tests"/>
          <p:cNvSpPr txBox="1"/>
          <p:nvPr/>
        </p:nvSpPr>
        <p:spPr>
          <a:xfrm>
            <a:off x="888999" y="2980972"/>
            <a:ext cx="3048001" cy="3372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700">
                <a:solidFill>
                  <a:srgbClr val="223448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Backend integration tests</a:t>
            </a:r>
          </a:p>
        </p:txBody>
      </p:sp>
      <p:sp>
        <p:nvSpPr>
          <p:cNvPr id="296" name="21"/>
          <p:cNvSpPr txBox="1"/>
          <p:nvPr/>
        </p:nvSpPr>
        <p:spPr>
          <a:xfrm>
            <a:off x="4749800" y="1895122"/>
            <a:ext cx="3048001" cy="8071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4400">
                <a:solidFill>
                  <a:srgbClr val="31A19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21</a:t>
            </a:r>
          </a:p>
        </p:txBody>
      </p:sp>
      <p:sp>
        <p:nvSpPr>
          <p:cNvPr id="297" name="End-to-end scenarios"/>
          <p:cNvSpPr txBox="1"/>
          <p:nvPr/>
        </p:nvSpPr>
        <p:spPr>
          <a:xfrm>
            <a:off x="4749800" y="2980972"/>
            <a:ext cx="3048000" cy="3372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700">
                <a:solidFill>
                  <a:srgbClr val="223448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End-to-end scenarios</a:t>
            </a:r>
          </a:p>
        </p:txBody>
      </p:sp>
      <p:sp>
        <p:nvSpPr>
          <p:cNvPr id="298" name="3"/>
          <p:cNvSpPr txBox="1"/>
          <p:nvPr/>
        </p:nvSpPr>
        <p:spPr>
          <a:xfrm>
            <a:off x="8610600" y="1895122"/>
            <a:ext cx="2794000" cy="8071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4400">
                <a:solidFill>
                  <a:srgbClr val="31A19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99" name="Roles verified"/>
          <p:cNvSpPr txBox="1"/>
          <p:nvPr/>
        </p:nvSpPr>
        <p:spPr>
          <a:xfrm>
            <a:off x="8610600" y="2980972"/>
            <a:ext cx="2794001" cy="3372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700">
                <a:solidFill>
                  <a:srgbClr val="223448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Roles verified</a:t>
            </a:r>
          </a:p>
        </p:txBody>
      </p:sp>
      <p:sp>
        <p:nvSpPr>
          <p:cNvPr id="300" name="3"/>
          <p:cNvSpPr txBox="1"/>
          <p:nvPr/>
        </p:nvSpPr>
        <p:spPr>
          <a:xfrm>
            <a:off x="12369800" y="1895122"/>
            <a:ext cx="2921001" cy="8071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4400">
                <a:solidFill>
                  <a:srgbClr val="31A19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01" name="Responsive viewports"/>
          <p:cNvSpPr txBox="1"/>
          <p:nvPr/>
        </p:nvSpPr>
        <p:spPr>
          <a:xfrm>
            <a:off x="12369800" y="2980972"/>
            <a:ext cx="2921001" cy="3372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700">
                <a:solidFill>
                  <a:srgbClr val="223448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Responsive viewports</a:t>
            </a:r>
          </a:p>
        </p:txBody>
      </p:sp>
      <p:sp>
        <p:nvSpPr>
          <p:cNvPr id="302" name="Линия"/>
          <p:cNvSpPr/>
          <p:nvPr/>
        </p:nvSpPr>
        <p:spPr>
          <a:xfrm>
            <a:off x="889000" y="4343400"/>
            <a:ext cx="14452600" cy="1"/>
          </a:xfrm>
          <a:prstGeom prst="line">
            <a:avLst/>
          </a:prstGeom>
          <a:ln w="3175">
            <a:solidFill>
              <a:srgbClr val="000000"/>
            </a:solidFill>
            <a:miter lim="400000"/>
          </a:ln>
        </p:spPr>
        <p:txBody>
          <a:bodyPr lIns="22577" tIns="22577" rIns="22577" bIns="22577" anchor="ctr"/>
          <a:lstStyle/>
          <a:p>
            <a:pPr/>
          </a:p>
        </p:txBody>
      </p:sp>
      <p:sp>
        <p:nvSpPr>
          <p:cNvPr id="303" name="What the tests prove"/>
          <p:cNvSpPr txBox="1"/>
          <p:nvPr/>
        </p:nvSpPr>
        <p:spPr>
          <a:xfrm>
            <a:off x="889000" y="4905022"/>
            <a:ext cx="4445000" cy="4261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200">
                <a:solidFill>
                  <a:srgbClr val="38527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What the tests prove</a:t>
            </a:r>
          </a:p>
        </p:txBody>
      </p:sp>
      <p:sp>
        <p:nvSpPr>
          <p:cNvPr id="304" name="Valid and invalid login…"/>
          <p:cNvSpPr txBox="1"/>
          <p:nvPr/>
        </p:nvSpPr>
        <p:spPr>
          <a:xfrm>
            <a:off x="889000" y="5997222"/>
            <a:ext cx="6350000" cy="10357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1900">
                <a:solidFill>
                  <a:srgbClr val="223448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Valid and invalid login</a:t>
            </a:r>
          </a:p>
          <a:p>
            <a:pPr>
              <a:defRPr sz="1900">
                <a:solidFill>
                  <a:srgbClr val="223448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Unauthenticated requests return 401</a:t>
            </a:r>
          </a:p>
          <a:p>
            <a:pPr>
              <a:defRPr sz="1900">
                <a:solidFill>
                  <a:srgbClr val="223448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Cross-role requests return 403</a:t>
            </a:r>
          </a:p>
        </p:txBody>
      </p:sp>
      <p:sp>
        <p:nvSpPr>
          <p:cNvPr id="305" name="Logout protects the former workspace…"/>
          <p:cNvSpPr txBox="1"/>
          <p:nvPr/>
        </p:nvSpPr>
        <p:spPr>
          <a:xfrm>
            <a:off x="8254999" y="5997222"/>
            <a:ext cx="6604001" cy="10357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1900">
                <a:solidFill>
                  <a:srgbClr val="223448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Logout protects the former workspace</a:t>
            </a:r>
          </a:p>
          <a:p>
            <a:pPr>
              <a:defRPr sz="1900">
                <a:solidFill>
                  <a:srgbClr val="223448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CORS accepts the local frontend</a:t>
            </a:r>
          </a:p>
          <a:p>
            <a:pPr>
              <a:defRPr sz="1900">
                <a:solidFill>
                  <a:srgbClr val="223448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Frontend unit test, lint, and production build pass</a:t>
            </a:r>
          </a:p>
        </p:txBody>
      </p:sp>
      <p:sp>
        <p:nvSpPr>
          <p:cNvPr id="306" name="The browser suite runs against real PostgreSQL and the running API."/>
          <p:cNvSpPr txBox="1"/>
          <p:nvPr/>
        </p:nvSpPr>
        <p:spPr>
          <a:xfrm>
            <a:off x="889000" y="7908572"/>
            <a:ext cx="11684000" cy="362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800">
                <a:solidFill>
                  <a:srgbClr val="31A19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The browser suite runs against real PostgreSQL and the running API.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rowth path"/>
          <p:cNvSpPr txBox="1"/>
          <p:nvPr/>
        </p:nvSpPr>
        <p:spPr>
          <a:xfrm>
            <a:off x="812800" y="574322"/>
            <a:ext cx="14224000" cy="6039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3200">
                <a:solidFill>
                  <a:srgbClr val="2234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Growth path</a:t>
            </a:r>
          </a:p>
        </p:txBody>
      </p:sp>
      <p:sp>
        <p:nvSpPr>
          <p:cNvPr id="311" name="EasyLang  /  Sprint 1"/>
          <p:cNvSpPr txBox="1"/>
          <p:nvPr/>
        </p:nvSpPr>
        <p:spPr>
          <a:xfrm>
            <a:off x="812800" y="8664222"/>
            <a:ext cx="3048000" cy="248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200">
                <a:solidFill>
                  <a:srgbClr val="77879D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EasyLang  /  Sprint 1</a:t>
            </a:r>
          </a:p>
        </p:txBody>
      </p:sp>
      <p:sp>
        <p:nvSpPr>
          <p:cNvPr id="312" name="09"/>
          <p:cNvSpPr txBox="1"/>
          <p:nvPr/>
        </p:nvSpPr>
        <p:spPr>
          <a:xfrm>
            <a:off x="15011400" y="8664222"/>
            <a:ext cx="431800" cy="248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200">
                <a:solidFill>
                  <a:srgbClr val="31A19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313" name="The current foundation supports the next domain modules without changing authentication or role boundaries."/>
          <p:cNvSpPr txBox="1"/>
          <p:nvPr/>
        </p:nvSpPr>
        <p:spPr>
          <a:xfrm>
            <a:off x="812800" y="1526822"/>
            <a:ext cx="14097000" cy="9849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700">
                <a:solidFill>
                  <a:srgbClr val="38527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The current foundation supports the next domain modules without changing authentication or role boundaries.</a:t>
            </a:r>
          </a:p>
        </p:txBody>
      </p:sp>
      <p:sp>
        <p:nvSpPr>
          <p:cNvPr id="314" name="02"/>
          <p:cNvSpPr txBox="1"/>
          <p:nvPr/>
        </p:nvSpPr>
        <p:spPr>
          <a:xfrm>
            <a:off x="812800" y="3165122"/>
            <a:ext cx="711200" cy="5277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800">
                <a:solidFill>
                  <a:srgbClr val="31A19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15" name="Projects and activities"/>
          <p:cNvSpPr txBox="1"/>
          <p:nvPr/>
        </p:nvSpPr>
        <p:spPr>
          <a:xfrm>
            <a:off x="1650999" y="3133372"/>
            <a:ext cx="5892801" cy="413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100">
                <a:solidFill>
                  <a:srgbClr val="2234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Projects and activities</a:t>
            </a:r>
          </a:p>
        </p:txBody>
      </p:sp>
      <p:sp>
        <p:nvSpPr>
          <p:cNvPr id="316" name="Translator assignments and daily work records"/>
          <p:cNvSpPr txBox="1"/>
          <p:nvPr/>
        </p:nvSpPr>
        <p:spPr>
          <a:xfrm>
            <a:off x="1651000" y="3863622"/>
            <a:ext cx="5892800" cy="3245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>
                <a:solidFill>
                  <a:srgbClr val="77879D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Translator assignments and daily work records</a:t>
            </a:r>
          </a:p>
        </p:txBody>
      </p:sp>
      <p:sp>
        <p:nvSpPr>
          <p:cNvPr id="317" name="03"/>
          <p:cNvSpPr txBox="1"/>
          <p:nvPr/>
        </p:nvSpPr>
        <p:spPr>
          <a:xfrm>
            <a:off x="8255000" y="3165122"/>
            <a:ext cx="711200" cy="5277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800">
                <a:solidFill>
                  <a:srgbClr val="31A19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318" name="Progress estimates"/>
          <p:cNvSpPr txBox="1"/>
          <p:nvPr/>
        </p:nvSpPr>
        <p:spPr>
          <a:xfrm>
            <a:off x="9093200" y="3133372"/>
            <a:ext cx="5892800" cy="413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100">
                <a:solidFill>
                  <a:srgbClr val="2234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Progress estimates</a:t>
            </a:r>
          </a:p>
        </p:txBody>
      </p:sp>
      <p:sp>
        <p:nvSpPr>
          <p:cNvPr id="319" name="Remaining-text estimates, completion rules, and reminders"/>
          <p:cNvSpPr txBox="1"/>
          <p:nvPr/>
        </p:nvSpPr>
        <p:spPr>
          <a:xfrm>
            <a:off x="9093200" y="3863622"/>
            <a:ext cx="5892800" cy="3245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>
                <a:solidFill>
                  <a:srgbClr val="77879D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Remaining-text estimates, completion rules, and reminders</a:t>
            </a:r>
          </a:p>
        </p:txBody>
      </p:sp>
      <p:sp>
        <p:nvSpPr>
          <p:cNvPr id="320" name="04"/>
          <p:cNvSpPr txBox="1"/>
          <p:nvPr/>
        </p:nvSpPr>
        <p:spPr>
          <a:xfrm>
            <a:off x="812800" y="5222522"/>
            <a:ext cx="711200" cy="5277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800">
                <a:solidFill>
                  <a:srgbClr val="31A19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321" name="Chief Editor review"/>
          <p:cNvSpPr txBox="1"/>
          <p:nvPr/>
        </p:nvSpPr>
        <p:spPr>
          <a:xfrm>
            <a:off x="1651000" y="5190772"/>
            <a:ext cx="5892800" cy="413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100">
                <a:solidFill>
                  <a:srgbClr val="2234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Chief Editor review</a:t>
            </a:r>
          </a:p>
        </p:txBody>
      </p:sp>
      <p:sp>
        <p:nvSpPr>
          <p:cNvPr id="322" name="Review outcomes, corrections, and re-review"/>
          <p:cNvSpPr txBox="1"/>
          <p:nvPr/>
        </p:nvSpPr>
        <p:spPr>
          <a:xfrm>
            <a:off x="1651000" y="5921022"/>
            <a:ext cx="5892800" cy="3245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>
                <a:solidFill>
                  <a:srgbClr val="77879D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Review outcomes, corrections, and re-review</a:t>
            </a:r>
          </a:p>
        </p:txBody>
      </p:sp>
      <p:sp>
        <p:nvSpPr>
          <p:cNvPr id="323" name="05"/>
          <p:cNvSpPr txBox="1"/>
          <p:nvPr/>
        </p:nvSpPr>
        <p:spPr>
          <a:xfrm>
            <a:off x="8255000" y="5222522"/>
            <a:ext cx="711200" cy="5277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800">
                <a:solidFill>
                  <a:srgbClr val="31A19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324" name="Monitoring and risk"/>
          <p:cNvSpPr txBox="1"/>
          <p:nvPr/>
        </p:nvSpPr>
        <p:spPr>
          <a:xfrm>
            <a:off x="9093200" y="5190772"/>
            <a:ext cx="5892800" cy="413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100">
                <a:solidFill>
                  <a:srgbClr val="2234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Monitoring and risk</a:t>
            </a:r>
          </a:p>
        </p:txBody>
      </p:sp>
      <p:sp>
        <p:nvSpPr>
          <p:cNvPr id="325" name="Staffing, workload, trends, and delivery-risk signals"/>
          <p:cNvSpPr txBox="1"/>
          <p:nvPr/>
        </p:nvSpPr>
        <p:spPr>
          <a:xfrm>
            <a:off x="9093200" y="5921022"/>
            <a:ext cx="5892800" cy="3245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>
                <a:solidFill>
                  <a:srgbClr val="77879D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Staffing, workload, trends, and delivery-risk signals</a:t>
            </a:r>
          </a:p>
        </p:txBody>
      </p:sp>
      <p:sp>
        <p:nvSpPr>
          <p:cNvPr id="326" name="Линия"/>
          <p:cNvSpPr/>
          <p:nvPr/>
        </p:nvSpPr>
        <p:spPr>
          <a:xfrm>
            <a:off x="812800" y="7289800"/>
            <a:ext cx="14173201" cy="0"/>
          </a:xfrm>
          <a:prstGeom prst="line">
            <a:avLst/>
          </a:prstGeom>
          <a:ln w="3175">
            <a:solidFill>
              <a:srgbClr val="000000"/>
            </a:solidFill>
            <a:miter lim="400000"/>
          </a:ln>
        </p:spPr>
        <p:txBody>
          <a:bodyPr lIns="22577" tIns="22577" rIns="22577" bIns="22577" anchor="ctr"/>
          <a:lstStyle/>
          <a:p>
            <a:pPr/>
          </a:p>
        </p:txBody>
      </p:sp>
      <p:sp>
        <p:nvSpPr>
          <p:cNvPr id="327" name="Redis, Kafka, Kubernetes, and CI/CD enter only when a concrete deployment or scaling requirement needs them."/>
          <p:cNvSpPr txBox="1"/>
          <p:nvPr/>
        </p:nvSpPr>
        <p:spPr>
          <a:xfrm>
            <a:off x="812800" y="7870472"/>
            <a:ext cx="14097000" cy="362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800">
                <a:solidFill>
                  <a:srgbClr val="31A19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Redis, Kafka, Kubernetes, and CI/CD enter only when a concrete deployment or scaling requirement needs them.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2577" tIns="22577" rIns="22577" bIns="22577" numCol="1" spcCol="38100" rtlCol="0" anchor="ctr" upright="0">
        <a:spAutoFit/>
      </a:bodyPr>
      <a:lstStyle>
        <a:defPPr marL="0" marR="0" indent="0" algn="ctr" defTabSz="550333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3175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2577" tIns="22577" rIns="22577" bIns="22577" numCol="1" spcCol="38100" rtlCol="0" anchor="ctr" upright="0">
        <a:spAutoFit/>
      </a:bodyPr>
      <a:lstStyle>
        <a:defPPr marL="0" marR="0" indent="0" algn="ctr" defTabSz="162555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6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2577" tIns="22577" rIns="22577" bIns="22577" numCol="1" spcCol="38100" rtlCol="0" anchor="ctr" upright="0">
        <a:spAutoFit/>
      </a:bodyPr>
      <a:lstStyle>
        <a:defPPr marL="0" marR="0" indent="0" algn="ctr" defTabSz="550333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3175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2577" tIns="22577" rIns="22577" bIns="22577" numCol="1" spcCol="38100" rtlCol="0" anchor="ctr" upright="0">
        <a:spAutoFit/>
      </a:bodyPr>
      <a:lstStyle>
        <a:defPPr marL="0" marR="0" indent="0" algn="ctr" defTabSz="162555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6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